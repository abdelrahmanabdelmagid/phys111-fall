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70" r:id="rId4"/>
    <p:sldId id="271" r:id="rId5"/>
    <p:sldId id="273" r:id="rId6"/>
    <p:sldId id="274" r:id="rId7"/>
    <p:sldId id="276" r:id="rId8"/>
    <p:sldId id="278" r:id="rId9"/>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24" autoAdjust="0"/>
  </p:normalViewPr>
  <p:slideViewPr>
    <p:cSldViewPr snapToGrid="0" snapToObjects="1">
      <p:cViewPr varScale="1">
        <p:scale>
          <a:sx n="68" d="100"/>
          <a:sy n="68" d="100"/>
        </p:scale>
        <p:origin x="144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CE9B893B-7D4E-4D80-80E4-0AEC93FEC369}" type="datetimeFigureOut">
              <a:rPr lang="en-US"/>
              <a:pPr>
                <a:defRPr/>
              </a:pPr>
              <a:t>11/26/2020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6F0F86C-71DC-4552-B508-758721D55664}" type="slidenum">
              <a:rPr lang="en-US" altLang="en-US"/>
              <a:pPr/>
              <a:t>‹#›</a:t>
            </a:fld>
            <a:endParaRPr lang="en-US" altLang="en-US"/>
          </a:p>
        </p:txBody>
      </p:sp>
    </p:spTree>
    <p:extLst>
      <p:ext uri="{BB962C8B-B14F-4D97-AF65-F5344CB8AC3E}">
        <p14:creationId xmlns:p14="http://schemas.microsoft.com/office/powerpoint/2010/main" val="198312306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F0F86C-71DC-4552-B508-758721D55664}" type="slidenum">
              <a:rPr lang="en-US" altLang="en-US" smtClean="0"/>
              <a:pPr/>
              <a:t>1</a:t>
            </a:fld>
            <a:endParaRPr lang="en-US" altLang="en-US"/>
          </a:p>
        </p:txBody>
      </p:sp>
    </p:spTree>
    <p:extLst>
      <p:ext uri="{BB962C8B-B14F-4D97-AF65-F5344CB8AC3E}">
        <p14:creationId xmlns:p14="http://schemas.microsoft.com/office/powerpoint/2010/main" val="41422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We can use the second bullet point to initiate a discussion amongst the students:  Can an instrument reduce systematic error?  If so, in what cases?  Can an instrument reduce random error?  If so, when and how?</a:t>
            </a:r>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5BF7C26-B401-4192-96C3-76D8E204F352}" type="slidenum">
              <a:rPr lang="en-US" altLang="en-US"/>
              <a:pPr/>
              <a:t>2</a:t>
            </a:fld>
            <a:endParaRPr lang="en-US" altLang="en-US"/>
          </a:p>
        </p:txBody>
      </p:sp>
    </p:spTree>
    <p:extLst>
      <p:ext uri="{BB962C8B-B14F-4D97-AF65-F5344CB8AC3E}">
        <p14:creationId xmlns:p14="http://schemas.microsoft.com/office/powerpoint/2010/main" val="2553552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C85556-39E0-4798-ABC9-8FA0823D6636}" type="slidenum">
              <a:rPr lang="en-US" altLang="en-US"/>
              <a:pPr/>
              <a:t>3</a:t>
            </a:fld>
            <a:endParaRPr lang="en-US" altLang="en-US"/>
          </a:p>
        </p:txBody>
      </p:sp>
    </p:spTree>
    <p:extLst>
      <p:ext uri="{BB962C8B-B14F-4D97-AF65-F5344CB8AC3E}">
        <p14:creationId xmlns:p14="http://schemas.microsoft.com/office/powerpoint/2010/main" val="744879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C85556-39E0-4798-ABC9-8FA0823D6636}" type="slidenum">
              <a:rPr lang="en-US" altLang="en-US"/>
              <a:pPr/>
              <a:t>4</a:t>
            </a:fld>
            <a:endParaRPr lang="en-US" altLang="en-US"/>
          </a:p>
        </p:txBody>
      </p:sp>
    </p:spTree>
    <p:extLst>
      <p:ext uri="{BB962C8B-B14F-4D97-AF65-F5344CB8AC3E}">
        <p14:creationId xmlns:p14="http://schemas.microsoft.com/office/powerpoint/2010/main" val="652528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C85556-39E0-4798-ABC9-8FA0823D6636}" type="slidenum">
              <a:rPr lang="en-US" altLang="en-US"/>
              <a:pPr/>
              <a:t>5</a:t>
            </a:fld>
            <a:endParaRPr lang="en-US" altLang="en-US"/>
          </a:p>
        </p:txBody>
      </p:sp>
    </p:spTree>
    <p:extLst>
      <p:ext uri="{BB962C8B-B14F-4D97-AF65-F5344CB8AC3E}">
        <p14:creationId xmlns:p14="http://schemas.microsoft.com/office/powerpoint/2010/main" val="3603509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dirty="0" smtClean="0"/>
              <a:t>This eccentricity (deviation from the </a:t>
            </a:r>
            <a:r>
              <a:rPr lang="en-GB" altLang="en-US" dirty="0" err="1" smtClean="0"/>
              <a:t>center</a:t>
            </a:r>
            <a:r>
              <a:rPr lang="en-GB" altLang="en-US" dirty="0" smtClean="0"/>
              <a:t>) of the eye is intentional as it allows the determination of the angular velocity of the cart track as will be shown later.</a:t>
            </a:r>
          </a:p>
          <a:p>
            <a:pPr eaLnBrk="1" hangingPunct="1">
              <a:spcBef>
                <a:spcPct val="0"/>
              </a:spcBef>
            </a:pPr>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C85556-39E0-4798-ABC9-8FA0823D6636}" type="slidenum">
              <a:rPr lang="en-US" altLang="en-US"/>
              <a:pPr/>
              <a:t>6</a:t>
            </a:fld>
            <a:endParaRPr lang="en-US" altLang="en-US"/>
          </a:p>
        </p:txBody>
      </p:sp>
    </p:spTree>
    <p:extLst>
      <p:ext uri="{BB962C8B-B14F-4D97-AF65-F5344CB8AC3E}">
        <p14:creationId xmlns:p14="http://schemas.microsoft.com/office/powerpoint/2010/main" val="3930298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dirty="0" smtClean="0"/>
              <a:t>This eccentricity (deviation from the </a:t>
            </a:r>
            <a:r>
              <a:rPr lang="en-GB" altLang="en-US" dirty="0" err="1" smtClean="0"/>
              <a:t>center</a:t>
            </a:r>
            <a:r>
              <a:rPr lang="en-GB" altLang="en-US" dirty="0" smtClean="0"/>
              <a:t>) of the eye is intentional as it allows the determination of the angular velocity of the cart track as will be shown later.</a:t>
            </a:r>
          </a:p>
          <a:p>
            <a:pPr eaLnBrk="1" hangingPunct="1">
              <a:spcBef>
                <a:spcPct val="0"/>
              </a:spcBef>
            </a:pPr>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DC85556-39E0-4798-ABC9-8FA0823D6636}" type="slidenum">
              <a:rPr lang="en-US" altLang="en-US"/>
              <a:pPr/>
              <a:t>7</a:t>
            </a:fld>
            <a:endParaRPr lang="en-US" altLang="en-US"/>
          </a:p>
        </p:txBody>
      </p:sp>
    </p:spTree>
    <p:extLst>
      <p:ext uri="{BB962C8B-B14F-4D97-AF65-F5344CB8AC3E}">
        <p14:creationId xmlns:p14="http://schemas.microsoft.com/office/powerpoint/2010/main" val="3074609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Objectives</a:t>
            </a:r>
          </a:p>
          <a:p>
            <a:pPr eaLnBrk="1" hangingPunct="1">
              <a:spcBef>
                <a:spcPct val="0"/>
              </a:spcBef>
            </a:pPr>
            <a:endParaRPr lang="en-US" altLang="en-US" smtClean="0"/>
          </a:p>
          <a:p>
            <a:pPr eaLnBrk="1" hangingPunct="1">
              <a:spcBef>
                <a:spcPct val="0"/>
              </a:spcBef>
            </a:pPr>
            <a:endParaRPr lang="en-US" altLang="en-US" smtClean="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183EF38-B38F-4D89-B700-9EA7C81724B4}" type="slidenum">
              <a:rPr lang="en-US" altLang="en-US">
                <a:solidFill>
                  <a:prstClr val="black"/>
                </a:solidFill>
              </a:rPr>
              <a:pPr/>
              <a:t>8</a:t>
            </a:fld>
            <a:endParaRPr lang="en-US" altLang="en-US">
              <a:solidFill>
                <a:prstClr val="black"/>
              </a:solidFill>
            </a:endParaRPr>
          </a:p>
        </p:txBody>
      </p:sp>
    </p:spTree>
    <p:extLst>
      <p:ext uri="{BB962C8B-B14F-4D97-AF65-F5344CB8AC3E}">
        <p14:creationId xmlns:p14="http://schemas.microsoft.com/office/powerpoint/2010/main" val="1811633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2844B58-8B34-4584-9748-3CDA8C6DAB9D}" type="datetimeFigureOut">
              <a:rPr lang="en-US"/>
              <a:pPr>
                <a:defRPr/>
              </a:pPr>
              <a:t>11/26/2020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2D98DC6-F15D-48BE-8485-325025E88CC0}" type="slidenum">
              <a:rPr lang="en-US" altLang="en-US"/>
              <a:pPr/>
              <a:t>‹#›</a:t>
            </a:fld>
            <a:endParaRPr lang="en-US" altLang="en-US"/>
          </a:p>
        </p:txBody>
      </p:sp>
    </p:spTree>
    <p:extLst>
      <p:ext uri="{BB962C8B-B14F-4D97-AF65-F5344CB8AC3E}">
        <p14:creationId xmlns:p14="http://schemas.microsoft.com/office/powerpoint/2010/main" val="3865402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EF5A46C-B2A5-466F-93CC-34A97AD2CA37}" type="datetimeFigureOut">
              <a:rPr lang="en-US"/>
              <a:pPr>
                <a:defRPr/>
              </a:pPr>
              <a:t>11/26/2020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6A7F839-A4CB-4AF9-9640-A662427F0652}" type="slidenum">
              <a:rPr lang="en-US" altLang="en-US"/>
              <a:pPr/>
              <a:t>‹#›</a:t>
            </a:fld>
            <a:endParaRPr lang="en-US" altLang="en-US"/>
          </a:p>
        </p:txBody>
      </p:sp>
    </p:spTree>
    <p:extLst>
      <p:ext uri="{BB962C8B-B14F-4D97-AF65-F5344CB8AC3E}">
        <p14:creationId xmlns:p14="http://schemas.microsoft.com/office/powerpoint/2010/main" val="3723746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842140E-F17B-4C41-9D80-7291EE18AE3C}" type="datetimeFigureOut">
              <a:rPr lang="en-US"/>
              <a:pPr>
                <a:defRPr/>
              </a:pPr>
              <a:t>11/26/2020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6A1A70-BACF-4514-A16A-812EBCC950F8}" type="slidenum">
              <a:rPr lang="en-US" altLang="en-US"/>
              <a:pPr/>
              <a:t>‹#›</a:t>
            </a:fld>
            <a:endParaRPr lang="en-US" altLang="en-US"/>
          </a:p>
        </p:txBody>
      </p:sp>
    </p:spTree>
    <p:extLst>
      <p:ext uri="{BB962C8B-B14F-4D97-AF65-F5344CB8AC3E}">
        <p14:creationId xmlns:p14="http://schemas.microsoft.com/office/powerpoint/2010/main" val="2813683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7FE9DD4-DF67-4F7B-827A-BE184B448734}" type="datetimeFigureOut">
              <a:rPr lang="en-US"/>
              <a:pPr>
                <a:defRPr/>
              </a:pPr>
              <a:t>11/26/2020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F1CB54B7-7677-4738-9D72-73ADC19DB039}" type="slidenum">
              <a:rPr lang="en-US" altLang="en-US"/>
              <a:pPr/>
              <a:t>‹#›</a:t>
            </a:fld>
            <a:endParaRPr lang="en-US" altLang="en-US"/>
          </a:p>
        </p:txBody>
      </p:sp>
    </p:spTree>
    <p:extLst>
      <p:ext uri="{BB962C8B-B14F-4D97-AF65-F5344CB8AC3E}">
        <p14:creationId xmlns:p14="http://schemas.microsoft.com/office/powerpoint/2010/main" val="14431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ADA4339-42DB-4F71-B023-6280852C50F9}" type="datetimeFigureOut">
              <a:rPr lang="en-US"/>
              <a:pPr>
                <a:defRPr/>
              </a:pPr>
              <a:t>11/26/2020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B4CC0BE3-8213-4123-9920-C36EEDFA0F4C}" type="slidenum">
              <a:rPr lang="en-US" altLang="en-US"/>
              <a:pPr/>
              <a:t>‹#›</a:t>
            </a:fld>
            <a:endParaRPr lang="en-US" altLang="en-US"/>
          </a:p>
        </p:txBody>
      </p:sp>
    </p:spTree>
    <p:extLst>
      <p:ext uri="{BB962C8B-B14F-4D97-AF65-F5344CB8AC3E}">
        <p14:creationId xmlns:p14="http://schemas.microsoft.com/office/powerpoint/2010/main" val="2470095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5268FD24-E1DD-446B-A1AD-FD571ECCE125}" type="datetimeFigureOut">
              <a:rPr lang="en-US"/>
              <a:pPr>
                <a:defRPr/>
              </a:pPr>
              <a:t>11/26/2020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E935FF7A-68DE-4A38-B2CC-A585AAB18372}" type="slidenum">
              <a:rPr lang="en-US" altLang="en-US"/>
              <a:pPr/>
              <a:t>‹#›</a:t>
            </a:fld>
            <a:endParaRPr lang="en-US" altLang="en-US"/>
          </a:p>
        </p:txBody>
      </p:sp>
    </p:spTree>
    <p:extLst>
      <p:ext uri="{BB962C8B-B14F-4D97-AF65-F5344CB8AC3E}">
        <p14:creationId xmlns:p14="http://schemas.microsoft.com/office/powerpoint/2010/main" val="2070026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EE5972-AFF8-4630-A5B2-8D4E446EA0F3}" type="datetimeFigureOut">
              <a:rPr lang="en-US"/>
              <a:pPr>
                <a:defRPr/>
              </a:pPr>
              <a:t>11/26/2020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79A6C50E-2843-462E-92CC-9F284B84C45F}" type="slidenum">
              <a:rPr lang="en-US" altLang="en-US"/>
              <a:pPr/>
              <a:t>‹#›</a:t>
            </a:fld>
            <a:endParaRPr lang="en-US" altLang="en-US"/>
          </a:p>
        </p:txBody>
      </p:sp>
    </p:spTree>
    <p:extLst>
      <p:ext uri="{BB962C8B-B14F-4D97-AF65-F5344CB8AC3E}">
        <p14:creationId xmlns:p14="http://schemas.microsoft.com/office/powerpoint/2010/main" val="2999961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D44E1F3-73A4-416D-9B33-75947629A7A6}" type="datetimeFigureOut">
              <a:rPr lang="en-US"/>
              <a:pPr>
                <a:defRPr/>
              </a:pPr>
              <a:t>11/26/2020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7C3938A-F608-4E8D-AB79-7A8A65CAB845}" type="slidenum">
              <a:rPr lang="en-US" altLang="en-US"/>
              <a:pPr/>
              <a:t>‹#›</a:t>
            </a:fld>
            <a:endParaRPr lang="en-US" altLang="en-US"/>
          </a:p>
        </p:txBody>
      </p:sp>
    </p:spTree>
    <p:extLst>
      <p:ext uri="{BB962C8B-B14F-4D97-AF65-F5344CB8AC3E}">
        <p14:creationId xmlns:p14="http://schemas.microsoft.com/office/powerpoint/2010/main" val="2330484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75272A4-65CA-4835-83C2-AB65BDF4E03D}" type="datetimeFigureOut">
              <a:rPr lang="en-US"/>
              <a:pPr>
                <a:defRPr/>
              </a:pPr>
              <a:t>11/26/2020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5D76D36-4610-49EB-856F-7E067A7DBB34}" type="slidenum">
              <a:rPr lang="en-US" altLang="en-US"/>
              <a:pPr/>
              <a:t>‹#›</a:t>
            </a:fld>
            <a:endParaRPr lang="en-US" altLang="en-US"/>
          </a:p>
        </p:txBody>
      </p:sp>
    </p:spTree>
    <p:extLst>
      <p:ext uri="{BB962C8B-B14F-4D97-AF65-F5344CB8AC3E}">
        <p14:creationId xmlns:p14="http://schemas.microsoft.com/office/powerpoint/2010/main" val="3335916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A92D961-D611-4655-AC9A-4843D80ADEAF}" type="datetimeFigureOut">
              <a:rPr lang="en-US"/>
              <a:pPr>
                <a:defRPr/>
              </a:pPr>
              <a:t>11/26/2020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29E3D4F-39B0-4DFB-BEAF-43DBB10E20AE}" type="slidenum">
              <a:rPr lang="en-US" altLang="en-US"/>
              <a:pPr/>
              <a:t>‹#›</a:t>
            </a:fld>
            <a:endParaRPr lang="en-US" altLang="en-US"/>
          </a:p>
        </p:txBody>
      </p:sp>
    </p:spTree>
    <p:extLst>
      <p:ext uri="{BB962C8B-B14F-4D97-AF65-F5344CB8AC3E}">
        <p14:creationId xmlns:p14="http://schemas.microsoft.com/office/powerpoint/2010/main" val="2581481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03A7E63-6921-43FD-A0AC-042928711CD4}" type="datetimeFigureOut">
              <a:rPr lang="en-US"/>
              <a:pPr>
                <a:defRPr/>
              </a:pPr>
              <a:t>11/26/2020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0E5D729-005D-4152-B097-6F1287A98B7D}" type="slidenum">
              <a:rPr lang="en-US" altLang="en-US"/>
              <a:pPr/>
              <a:t>‹#›</a:t>
            </a:fld>
            <a:endParaRPr lang="en-US" altLang="en-US"/>
          </a:p>
        </p:txBody>
      </p:sp>
    </p:spTree>
    <p:extLst>
      <p:ext uri="{BB962C8B-B14F-4D97-AF65-F5344CB8AC3E}">
        <p14:creationId xmlns:p14="http://schemas.microsoft.com/office/powerpoint/2010/main" val="4271490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endParaRPr lang="en-US"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endParaRPr lang="en-US"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0AD3A7CA-F8F2-45E7-9FD7-4FF470FDD548}" type="datetimeFigureOut">
              <a:rPr lang="en-US"/>
              <a:pPr>
                <a:defRPr/>
              </a:pPr>
              <a:t>11/26/2020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6F54DF54-CF39-4930-B7A9-8CECAF5FA5E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34"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defRPr>
      </a:lvl5pPr>
      <a:lvl6pPr marL="457200" algn="ctr" defTabSz="457200" rtl="0" fontAlgn="base">
        <a:spcBef>
          <a:spcPct val="0"/>
        </a:spcBef>
        <a:spcAft>
          <a:spcPct val="0"/>
        </a:spcAft>
        <a:defRPr sz="4400">
          <a:solidFill>
            <a:schemeClr val="tx1"/>
          </a:solidFill>
          <a:latin typeface="Calibri" panose="020F0502020204030204" pitchFamily="34" charset="0"/>
        </a:defRPr>
      </a:lvl6pPr>
      <a:lvl7pPr marL="914400" algn="ctr" defTabSz="457200" rtl="0" fontAlgn="base">
        <a:spcBef>
          <a:spcPct val="0"/>
        </a:spcBef>
        <a:spcAft>
          <a:spcPct val="0"/>
        </a:spcAft>
        <a:defRPr sz="4400">
          <a:solidFill>
            <a:schemeClr val="tx1"/>
          </a:solidFill>
          <a:latin typeface="Calibri" panose="020F0502020204030204" pitchFamily="34" charset="0"/>
        </a:defRPr>
      </a:lvl7pPr>
      <a:lvl8pPr marL="1371600" algn="ctr" defTabSz="457200" rtl="0" fontAlgn="base">
        <a:spcBef>
          <a:spcPct val="0"/>
        </a:spcBef>
        <a:spcAft>
          <a:spcPct val="0"/>
        </a:spcAft>
        <a:defRPr sz="4400">
          <a:solidFill>
            <a:schemeClr val="tx1"/>
          </a:solidFill>
          <a:latin typeface="Calibri" panose="020F0502020204030204" pitchFamily="34" charset="0"/>
        </a:defRPr>
      </a:lvl8pPr>
      <a:lvl9pPr marL="1828800" algn="ctr" defTabSz="457200"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gi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altLang="en-US" sz="3600" dirty="0" smtClean="0"/>
              <a:t>PHYS 111 Experiment 5</a:t>
            </a:r>
            <a:br>
              <a:rPr lang="en-US" altLang="en-US" sz="3600" dirty="0" smtClean="0"/>
            </a:br>
            <a:r>
              <a:rPr lang="en-US" altLang="en-US" dirty="0" smtClean="0"/>
              <a:t>Dynamics of Circular Motion</a:t>
            </a:r>
            <a:r>
              <a:rPr lang="en-US" altLang="en-US" sz="3600" dirty="0" smtClean="0"/>
              <a:t/>
            </a:r>
            <a:br>
              <a:rPr lang="en-US" altLang="en-US" sz="3600" dirty="0" smtClean="0"/>
            </a:br>
            <a:r>
              <a:rPr lang="en-US" altLang="en-US" sz="3600" dirty="0" smtClean="0"/>
              <a:t>(</a:t>
            </a:r>
            <a:r>
              <a:rPr lang="en-US" altLang="en-US" dirty="0" smtClean="0"/>
              <a:t>Centripetal Force)</a:t>
            </a:r>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a:buNone/>
              <a:defRPr/>
            </a:pPr>
            <a:r>
              <a:rPr lang="en-US" sz="4400" dirty="0">
                <a:solidFill>
                  <a:schemeClr val="tx1"/>
                </a:solidFill>
                <a:latin typeface="+mj-lt"/>
                <a:ea typeface="+mj-ea"/>
                <a:cs typeface="+mj-cs"/>
              </a:rPr>
              <a:t>Fall </a:t>
            </a:r>
            <a:r>
              <a:rPr lang="en-US" sz="4400" dirty="0" smtClean="0">
                <a:solidFill>
                  <a:schemeClr val="tx1"/>
                </a:solidFill>
                <a:latin typeface="+mj-lt"/>
                <a:ea typeface="+mj-ea"/>
                <a:cs typeface="+mj-cs"/>
              </a:rPr>
              <a:t>2020</a:t>
            </a:r>
            <a:endParaRPr lang="en-US" sz="4400" dirty="0">
              <a:solidFill>
                <a:schemeClr val="tx1"/>
              </a:solidFill>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u="sng" dirty="0" smtClean="0"/>
              <a:t>Dynamics of Circular Motion</a:t>
            </a:r>
          </a:p>
        </p:txBody>
      </p:sp>
      <p:sp>
        <p:nvSpPr>
          <p:cNvPr id="3075" name="Content Placeholder 2"/>
          <p:cNvSpPr>
            <a:spLocks noGrp="1"/>
          </p:cNvSpPr>
          <p:nvPr>
            <p:ph idx="1"/>
          </p:nvPr>
        </p:nvSpPr>
        <p:spPr/>
        <p:txBody>
          <a:bodyPr/>
          <a:lstStyle/>
          <a:p>
            <a:pPr algn="just" eaLnBrk="1" hangingPunct="1"/>
            <a:r>
              <a:rPr lang="en-US" altLang="en-US" b="1" dirty="0" smtClean="0"/>
              <a:t>A centripetal </a:t>
            </a:r>
            <a:r>
              <a:rPr lang="en-US" altLang="en-US" b="1" dirty="0"/>
              <a:t>force is </a:t>
            </a:r>
            <a:r>
              <a:rPr lang="en-US" altLang="en-US" b="1" dirty="0" smtClean="0"/>
              <a:t>a force that causes an object to move </a:t>
            </a:r>
            <a:r>
              <a:rPr lang="en-US" altLang="en-US" b="1" dirty="0"/>
              <a:t>in a </a:t>
            </a:r>
            <a:r>
              <a:rPr lang="en-US" altLang="en-US" b="1" dirty="0" smtClean="0"/>
              <a:t>circular path.</a:t>
            </a:r>
          </a:p>
          <a:p>
            <a:pPr marL="0" indent="0" algn="just" eaLnBrk="1" hangingPunct="1">
              <a:buNone/>
            </a:pPr>
            <a:endParaRPr lang="en-US" altLang="en-US" b="1" dirty="0" smtClean="0"/>
          </a:p>
          <a:p>
            <a:pPr algn="just" eaLnBrk="1" hangingPunct="1"/>
            <a:r>
              <a:rPr lang="en-US" altLang="en-US" b="1" dirty="0" smtClean="0"/>
              <a:t>If we stick to an inertial reference frame</a:t>
            </a:r>
            <a:r>
              <a:rPr lang="en-US" altLang="en-US" b="1" dirty="0"/>
              <a:t>, Newton’s laws of motion give us all that we need to understand this circular </a:t>
            </a:r>
            <a:r>
              <a:rPr lang="en-US" altLang="en-US" b="1" dirty="0" smtClean="0"/>
              <a:t>motion.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u="sng" dirty="0"/>
              <a:t>Dynamics of Circular Motion</a:t>
            </a:r>
            <a:endParaRPr lang="en-US" altLang="en-US" u="sng" dirty="0" smtClean="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277812" y="1600200"/>
                <a:ext cx="5862637" cy="4614333"/>
              </a:xfrm>
            </p:spPr>
            <p:txBody>
              <a:bodyPr/>
              <a:lstStyle/>
              <a:p>
                <a:pPr algn="just">
                  <a:buFont typeface="Arial" charset="0"/>
                  <a:buChar char="•"/>
                  <a:defRPr/>
                </a:pPr>
                <a:r>
                  <a:rPr lang="en-US" sz="2400" i="1" dirty="0" smtClean="0">
                    <a:solidFill>
                      <a:schemeClr val="accent1"/>
                    </a:solidFill>
                  </a:rPr>
                  <a:t>Centripetal</a:t>
                </a:r>
                <a:r>
                  <a:rPr lang="en-US" sz="2400" dirty="0" smtClean="0"/>
                  <a:t> acceleration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a:rPr>
                          <m:t>𝑎</m:t>
                        </m:r>
                      </m:e>
                      <m:sub>
                        <m:r>
                          <a:rPr lang="en-US" sz="2400" i="1">
                            <a:solidFill>
                              <a:srgbClr val="FF0000"/>
                            </a:solidFill>
                            <a:latin typeface="Cambria Math"/>
                          </a:rPr>
                          <m:t>𝑟𝑎𝑑</m:t>
                        </m:r>
                      </m:sub>
                    </m:sSub>
                  </m:oMath>
                </a14:m>
                <a:r>
                  <a:rPr lang="en-US" sz="2400" dirty="0"/>
                  <a:t> </a:t>
                </a:r>
                <a:r>
                  <a:rPr lang="en-US" sz="2400" dirty="0" smtClean="0"/>
                  <a:t>is directed  </a:t>
                </a:r>
                <a:r>
                  <a:rPr lang="en-US" sz="2400" dirty="0"/>
                  <a:t>towards the center of the circle </a:t>
                </a:r>
                <a:endParaRPr lang="en-US" i="1" dirty="0" smtClean="0">
                  <a:solidFill>
                    <a:srgbClr val="FF0000"/>
                  </a:solidFill>
                  <a:latin typeface="Cambria Math" panose="02040503050406030204" pitchFamily="18" charset="0"/>
                </a:endParaRPr>
              </a:p>
              <a:p>
                <a:pPr marL="0" indent="0" algn="ctr">
                  <a:buNone/>
                  <a:defRPr/>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𝑟𝑎𝑑</m:t>
                          </m:r>
                        </m:sub>
                      </m:sSub>
                      <m:r>
                        <a:rPr lang="en-US" i="1">
                          <a:solidFill>
                            <a:srgbClr val="FF0000"/>
                          </a:solidFill>
                          <a:latin typeface="Cambria Math"/>
                        </a:rPr>
                        <m:t>=</m:t>
                      </m:r>
                      <m:f>
                        <m:fPr>
                          <m:ctrlPr>
                            <a:rPr lang="en-US" i="1">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𝑣</m:t>
                              </m:r>
                            </m:e>
                            <m:sup>
                              <m:r>
                                <a:rPr lang="en-US" i="1">
                                  <a:solidFill>
                                    <a:srgbClr val="FF0000"/>
                                  </a:solidFill>
                                  <a:latin typeface="Cambria Math"/>
                                </a:rPr>
                                <m:t>2</m:t>
                              </m:r>
                            </m:sup>
                          </m:sSup>
                        </m:num>
                        <m:den>
                          <m:r>
                            <a:rPr lang="en-US" i="1">
                              <a:solidFill>
                                <a:srgbClr val="FF0000"/>
                              </a:solidFill>
                              <a:latin typeface="Cambria Math"/>
                            </a:rPr>
                            <m:t>𝑅</m:t>
                          </m:r>
                        </m:den>
                      </m:f>
                      <m:r>
                        <a:rPr lang="en-US" i="1">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𝜔</m:t>
                          </m:r>
                        </m:e>
                        <m:sup>
                          <m:r>
                            <a:rPr lang="en-US" i="1">
                              <a:solidFill>
                                <a:srgbClr val="FF0000"/>
                              </a:solidFill>
                              <a:latin typeface="Cambria Math"/>
                            </a:rPr>
                            <m:t>2</m:t>
                          </m:r>
                        </m:sup>
                      </m:sSup>
                      <m:r>
                        <a:rPr lang="en-US" i="1">
                          <a:solidFill>
                            <a:srgbClr val="FF0000"/>
                          </a:solidFill>
                          <a:latin typeface="Cambria Math"/>
                        </a:rPr>
                        <m:t>𝑅</m:t>
                      </m:r>
                    </m:oMath>
                  </m:oMathPara>
                </a14:m>
                <a:endParaRPr lang="en-US" dirty="0" smtClean="0">
                  <a:solidFill>
                    <a:srgbClr val="FF0000"/>
                  </a:solidFill>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277812" y="1600200"/>
                <a:ext cx="5862637" cy="4614333"/>
              </a:xfrm>
              <a:blipFill rotWithShape="0">
                <a:blip r:embed="rId3"/>
                <a:stretch>
                  <a:fillRect l="-1457" t="-1058" r="-1665"/>
                </a:stretch>
              </a:blipFill>
            </p:spPr>
            <p:txBody>
              <a:bodyPr/>
              <a:lstStyle/>
              <a:p>
                <a:r>
                  <a:rPr lang="en-US">
                    <a:noFill/>
                  </a:rPr>
                  <a:t> </a:t>
                </a:r>
              </a:p>
            </p:txBody>
          </p:sp>
        </mc:Fallback>
      </mc:AlternateContent>
      <p:pic>
        <p:nvPicPr>
          <p:cNvPr id="1026" name="Picture 2" descr="http://myweb.wssu.edu/naeinijg/phys2321_files/tutorials_files/Chapter_7/images/centforce-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2531" y="1817953"/>
            <a:ext cx="2646363" cy="26463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ontent Placeholder 3"/>
              <p:cNvSpPr txBox="1">
                <a:spLocks/>
              </p:cNvSpPr>
              <p:nvPr/>
            </p:nvSpPr>
            <p:spPr bwMode="auto">
              <a:xfrm>
                <a:off x="277812" y="3575316"/>
                <a:ext cx="6086475" cy="21431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panose="020B0604020202020204" pitchFamily="34" charset="0"/>
                  <a:buNone/>
                  <a:defRPr/>
                </a:pPr>
                <a:endParaRPr lang="en-US" sz="2800" dirty="0" smtClean="0"/>
              </a:p>
              <a:p>
                <a:pPr marL="0" indent="0" algn="ctr">
                  <a:buFont typeface="Arial" panose="020B0604020202020204" pitchFamily="34" charset="0"/>
                  <a:buNone/>
                  <a:defRPr/>
                </a:pPr>
                <a:r>
                  <a:rPr lang="en-US" sz="2400" dirty="0" smtClean="0"/>
                  <a:t>where </a:t>
                </a:r>
                <a:r>
                  <a:rPr lang="en-US" sz="2400" i="1" dirty="0">
                    <a:solidFill>
                      <a:srgbClr val="FF0000"/>
                    </a:solidFill>
                    <a:sym typeface="Symbol"/>
                  </a:rPr>
                  <a:t></a:t>
                </a:r>
                <a:r>
                  <a:rPr lang="en-US" sz="2400" dirty="0"/>
                  <a:t> is the </a:t>
                </a:r>
                <a:r>
                  <a:rPr lang="en-US" sz="2400" i="1" dirty="0">
                    <a:solidFill>
                      <a:schemeClr val="accent1"/>
                    </a:solidFill>
                  </a:rPr>
                  <a:t>angular </a:t>
                </a:r>
                <a:r>
                  <a:rPr lang="en-US" sz="2400" i="1" dirty="0" smtClean="0">
                    <a:solidFill>
                      <a:schemeClr val="accent1"/>
                    </a:solidFill>
                  </a:rPr>
                  <a:t>velocity</a:t>
                </a:r>
                <a:r>
                  <a:rPr lang="en-US" sz="2400" dirty="0" smtClean="0"/>
                  <a:t>,                </a:t>
                </a:r>
                <a:endParaRPr lang="en-US" sz="2400" dirty="0"/>
              </a:p>
              <a:p>
                <a:pPr marL="0" indent="0" algn="ctr">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a:rPr lang="en-US" i="1">
                          <a:solidFill>
                            <a:srgbClr val="FF0000"/>
                          </a:solidFill>
                          <a:latin typeface="Cambria Math"/>
                        </a:rPr>
                        <m:t>𝜔</m:t>
                      </m:r>
                      <m:r>
                        <a:rPr lang="en-US" i="1">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a:rPr>
                            <m:t>𝑣</m:t>
                          </m:r>
                        </m:num>
                        <m:den>
                          <m:r>
                            <a:rPr lang="en-US" i="1">
                              <a:solidFill>
                                <a:srgbClr val="FF0000"/>
                              </a:solidFill>
                              <a:latin typeface="Cambria Math"/>
                            </a:rPr>
                            <m:t>𝑅</m:t>
                          </m:r>
                        </m:den>
                      </m:f>
                    </m:oMath>
                  </m:oMathPara>
                </a14:m>
                <a:endParaRPr lang="en-US" sz="4800" i="1" dirty="0">
                  <a:solidFill>
                    <a:srgbClr val="FF0000"/>
                  </a:solidFill>
                </a:endParaRPr>
              </a:p>
            </p:txBody>
          </p:sp>
        </mc:Choice>
        <mc:Fallback xmlns="">
          <p:sp>
            <p:nvSpPr>
              <p:cNvPr id="5" name="Content Placeholder 3"/>
              <p:cNvSpPr txBox="1">
                <a:spLocks noRot="1" noChangeAspect="1" noMove="1" noResize="1" noEditPoints="1" noAdjustHandles="1" noChangeArrowheads="1" noChangeShapeType="1" noTextEdit="1"/>
              </p:cNvSpPr>
              <p:nvPr/>
            </p:nvSpPr>
            <p:spPr bwMode="auto">
              <a:xfrm>
                <a:off x="277812" y="3575316"/>
                <a:ext cx="6086475" cy="2143124"/>
              </a:xfrm>
              <a:prstGeom prst="rect">
                <a:avLst/>
              </a:prstGeom>
              <a:blipFill rotWithShape="0">
                <a:blip r:embed="rId5"/>
                <a:stretch>
                  <a:fillRect r="-32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u="sng" dirty="0"/>
              <a:t>Dynamics of Circular Motion</a:t>
            </a:r>
            <a:endParaRPr lang="en-US" altLang="en-US" u="sng" dirty="0" smtClean="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250826" y="1600200"/>
                <a:ext cx="8408987" cy="4614333"/>
              </a:xfrm>
            </p:spPr>
            <p:txBody>
              <a:bodyPr/>
              <a:lstStyle/>
              <a:p>
                <a:pPr>
                  <a:buFont typeface="Arial" charset="0"/>
                  <a:buChar char="•"/>
                  <a:defRPr/>
                </a:pPr>
                <a:r>
                  <a:rPr lang="en-US" dirty="0" smtClean="0"/>
                  <a:t>If the time of one complete </a:t>
                </a:r>
                <a:r>
                  <a:rPr lang="en-US" dirty="0"/>
                  <a:t>period is </a:t>
                </a:r>
                <a:r>
                  <a:rPr lang="en-US" i="1" dirty="0">
                    <a:solidFill>
                      <a:srgbClr val="FF0000"/>
                    </a:solidFill>
                    <a:latin typeface="Times New Roman" pitchFamily="18" charset="0"/>
                    <a:cs typeface="Times New Roman" pitchFamily="18" charset="0"/>
                  </a:rPr>
                  <a:t>T</a:t>
                </a:r>
                <a:r>
                  <a:rPr lang="en-US" i="1" dirty="0"/>
                  <a:t>, </a:t>
                </a:r>
                <a:r>
                  <a:rPr lang="en-US" dirty="0" smtClean="0"/>
                  <a:t>then</a:t>
                </a:r>
              </a:p>
              <a:p>
                <a:pPr>
                  <a:buFont typeface="Arial" charset="0"/>
                  <a:buChar char="•"/>
                  <a:defRPr/>
                </a:pPr>
                <a:endParaRPr lang="en-US" sz="1600" dirty="0" smtClean="0"/>
              </a:p>
              <a:p>
                <a:pPr marL="0" indent="0" algn="ctr">
                  <a:buNone/>
                  <a:defRPr/>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a:rPr>
                        <m:t>𝜔</m:t>
                      </m:r>
                      <m:r>
                        <a:rPr lang="en-US" i="1" smtClean="0">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a:rPr>
                            <m:t>2</m:t>
                          </m:r>
                          <m:r>
                            <a:rPr lang="en-US" i="1">
                              <a:solidFill>
                                <a:srgbClr val="FF0000"/>
                              </a:solidFill>
                              <a:latin typeface="Cambria Math"/>
                            </a:rPr>
                            <m:t>𝜋</m:t>
                          </m:r>
                        </m:num>
                        <m:den>
                          <m:r>
                            <a:rPr lang="en-US" i="1">
                              <a:solidFill>
                                <a:srgbClr val="FF0000"/>
                              </a:solidFill>
                              <a:latin typeface="Cambria Math"/>
                            </a:rPr>
                            <m:t>𝑇</m:t>
                          </m:r>
                        </m:den>
                      </m:f>
                      <m:r>
                        <a:rPr lang="en-US" b="0" i="1" smtClean="0">
                          <a:solidFill>
                            <a:srgbClr val="FF0000"/>
                          </a:solidFill>
                          <a:latin typeface="Cambria Math"/>
                        </a:rPr>
                        <m:t>           </m:t>
                      </m:r>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h</m:t>
                      </m:r>
                      <m:r>
                        <a:rPr lang="en-US" b="0" i="1" smtClean="0">
                          <a:solidFill>
                            <a:schemeClr val="tx1"/>
                          </a:solidFill>
                          <a:latin typeface="Cambria Math" panose="02040503050406030204" pitchFamily="18" charset="0"/>
                        </a:rPr>
                        <m:t>𝑒𝑟𝑒𝑓𝑜𝑟𝑒</m:t>
                      </m:r>
                      <m:r>
                        <a:rPr lang="en-US" b="0" i="1" smtClean="0">
                          <a:solidFill>
                            <a:schemeClr val="tx1"/>
                          </a:solidFill>
                          <a:latin typeface="Cambria Math" panose="02040503050406030204" pitchFamily="18" charset="0"/>
                        </a:rPr>
                        <m:t>   </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𝑟𝑎𝑑</m:t>
                          </m:r>
                        </m:sub>
                      </m:sSub>
                      <m:r>
                        <a:rPr lang="en-US" i="1">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a:rPr>
                            <m:t>4</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𝜋</m:t>
                              </m:r>
                            </m:e>
                            <m:sup>
                              <m:r>
                                <a:rPr lang="en-US" i="1">
                                  <a:solidFill>
                                    <a:srgbClr val="FF0000"/>
                                  </a:solidFill>
                                  <a:latin typeface="Cambria Math"/>
                                </a:rPr>
                                <m:t>2</m:t>
                              </m:r>
                            </m:sup>
                          </m:sSup>
                          <m:r>
                            <a:rPr lang="en-US" i="1">
                              <a:solidFill>
                                <a:srgbClr val="FF0000"/>
                              </a:solidFill>
                              <a:latin typeface="Cambria Math"/>
                            </a:rPr>
                            <m:t>𝑅</m:t>
                          </m:r>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𝑇</m:t>
                              </m:r>
                            </m:e>
                            <m:sup>
                              <m:r>
                                <a:rPr lang="en-US" i="1">
                                  <a:solidFill>
                                    <a:srgbClr val="FF0000"/>
                                  </a:solidFill>
                                  <a:latin typeface="Cambria Math"/>
                                </a:rPr>
                                <m:t>2</m:t>
                              </m:r>
                            </m:sup>
                          </m:sSup>
                        </m:den>
                      </m:f>
                    </m:oMath>
                  </m:oMathPara>
                </a14:m>
                <a:endParaRPr lang="en-US" i="1" dirty="0">
                  <a:solidFill>
                    <a:srgbClr val="FF0000"/>
                  </a:solidFill>
                </a:endParaRPr>
              </a:p>
              <a:p>
                <a:pPr lvl="0">
                  <a:buFont typeface="Arial" charset="0"/>
                  <a:buChar char="•"/>
                  <a:defRPr/>
                </a:pPr>
                <a:endParaRPr lang="en-US" dirty="0" smtClean="0">
                  <a:solidFill>
                    <a:prstClr val="black"/>
                  </a:solidFill>
                </a:endParaRPr>
              </a:p>
              <a:p>
                <a:pPr lvl="0">
                  <a:buFont typeface="Arial" charset="0"/>
                  <a:buChar char="•"/>
                  <a:defRPr/>
                </a:pPr>
                <a:r>
                  <a:rPr lang="en-US" dirty="0" smtClean="0">
                    <a:solidFill>
                      <a:prstClr val="black"/>
                    </a:solidFill>
                  </a:rPr>
                  <a:t>According </a:t>
                </a:r>
                <a:r>
                  <a:rPr lang="en-US" dirty="0"/>
                  <a:t>to Newton’s second law, the net </a:t>
                </a:r>
                <a:r>
                  <a:rPr lang="en-US" i="1" dirty="0">
                    <a:solidFill>
                      <a:srgbClr val="0070C0"/>
                    </a:solidFill>
                  </a:rPr>
                  <a:t>centripetal force </a:t>
                </a:r>
                <a:r>
                  <a:rPr lang="en-US" i="1" dirty="0" smtClean="0">
                    <a:solidFill>
                      <a:srgbClr val="FF0000"/>
                    </a:solidFill>
                    <a:latin typeface="Times New Roman" pitchFamily="18" charset="0"/>
                    <a:cs typeface="Times New Roman" pitchFamily="18" charset="0"/>
                  </a:rPr>
                  <a:t>F</a:t>
                </a:r>
                <a:r>
                  <a:rPr lang="en-US" i="1" baseline="-25000" dirty="0" smtClean="0">
                    <a:solidFill>
                      <a:srgbClr val="FF0000"/>
                    </a:solidFill>
                    <a:latin typeface="Times New Roman" pitchFamily="18" charset="0"/>
                    <a:cs typeface="Times New Roman" pitchFamily="18" charset="0"/>
                  </a:rPr>
                  <a:t>c</a:t>
                </a:r>
                <a:r>
                  <a:rPr lang="en-US" i="1" baseline="-25000" dirty="0" smtClean="0"/>
                  <a:t> </a:t>
                </a:r>
                <a:r>
                  <a:rPr lang="en-US" dirty="0"/>
                  <a:t>is given </a:t>
                </a:r>
                <a:r>
                  <a:rPr lang="en-US" dirty="0" smtClean="0"/>
                  <a:t>by</a:t>
                </a:r>
              </a:p>
              <a:p>
                <a:pPr marL="0" lvl="0" indent="0">
                  <a:buNone/>
                  <a:defRPr/>
                </a:pPr>
                <a:endParaRPr lang="en-US" sz="800" dirty="0">
                  <a:solidFill>
                    <a:prstClr val="black"/>
                  </a:solidFill>
                </a:endParaRPr>
              </a:p>
              <a:p>
                <a:pPr marL="0" indent="0" algn="ctr">
                  <a:buNone/>
                  <a:defRPr/>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𝑐</m:t>
                          </m:r>
                        </m:sub>
                      </m:sSub>
                      <m:r>
                        <a:rPr lang="en-US" i="1">
                          <a:solidFill>
                            <a:srgbClr val="FF0000"/>
                          </a:solidFill>
                          <a:latin typeface="Cambria Math"/>
                        </a:rPr>
                        <m:t>=</m:t>
                      </m:r>
                      <m:r>
                        <a:rPr lang="en-US" i="1">
                          <a:solidFill>
                            <a:srgbClr val="FF0000"/>
                          </a:solidFill>
                          <a:latin typeface="Cambria Math"/>
                        </a:rPr>
                        <m:t>𝑚</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𝑟𝑎𝑑</m:t>
                          </m:r>
                        </m:sub>
                      </m:sSub>
                      <m:r>
                        <a:rPr lang="en-US" b="0" i="1" smtClean="0">
                          <a:solidFill>
                            <a:srgbClr val="FF0000"/>
                          </a:solidFill>
                          <a:latin typeface="Cambria Math" panose="02040503050406030204" pitchFamily="18" charset="0"/>
                        </a:rPr>
                        <m:t>=</m:t>
                      </m:r>
                      <m:r>
                        <a:rPr lang="en-US" i="1">
                          <a:solidFill>
                            <a:srgbClr val="FF0000"/>
                          </a:solidFill>
                          <a:latin typeface="Cambria Math"/>
                        </a:rPr>
                        <m:t>𝑚</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𝜔</m:t>
                          </m:r>
                        </m:e>
                        <m:sup>
                          <m:r>
                            <a:rPr lang="en-US" i="1">
                              <a:solidFill>
                                <a:srgbClr val="FF0000"/>
                              </a:solidFill>
                              <a:latin typeface="Cambria Math"/>
                            </a:rPr>
                            <m:t>2</m:t>
                          </m:r>
                        </m:sup>
                      </m:sSup>
                      <m:r>
                        <a:rPr lang="en-US" i="1">
                          <a:solidFill>
                            <a:srgbClr val="FF0000"/>
                          </a:solidFill>
                          <a:latin typeface="Cambria Math"/>
                        </a:rPr>
                        <m:t>𝑅</m:t>
                      </m:r>
                    </m:oMath>
                  </m:oMathPara>
                </a14:m>
                <a:endParaRPr lang="en-US" i="1" dirty="0" smtClean="0">
                  <a:solidFill>
                    <a:srgbClr val="FF0000"/>
                  </a:solidFill>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250826" y="1600200"/>
                <a:ext cx="8408987" cy="4614333"/>
              </a:xfrm>
              <a:blipFill rotWithShape="0">
                <a:blip r:embed="rId3"/>
                <a:stretch>
                  <a:fillRect l="-1667" t="-1984"/>
                </a:stretch>
              </a:blipFill>
            </p:spPr>
            <p:txBody>
              <a:bodyPr/>
              <a:lstStyle/>
              <a:p>
                <a:r>
                  <a:rPr lang="en-US">
                    <a:noFill/>
                  </a:rPr>
                  <a:t> </a:t>
                </a:r>
              </a:p>
            </p:txBody>
          </p:sp>
        </mc:Fallback>
      </mc:AlternateContent>
    </p:spTree>
    <p:extLst>
      <p:ext uri="{BB962C8B-B14F-4D97-AF65-F5344CB8AC3E}">
        <p14:creationId xmlns:p14="http://schemas.microsoft.com/office/powerpoint/2010/main" val="21332837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u="sng" dirty="0"/>
              <a:t>Experimental setup</a:t>
            </a:r>
            <a:endParaRPr lang="en-US" altLang="en-US" u="sng" dirty="0" smtClean="0"/>
          </a:p>
        </p:txBody>
      </p:sp>
      <p:grpSp>
        <p:nvGrpSpPr>
          <p:cNvPr id="17" name="Group 16"/>
          <p:cNvGrpSpPr/>
          <p:nvPr/>
        </p:nvGrpSpPr>
        <p:grpSpPr>
          <a:xfrm>
            <a:off x="376700" y="1750959"/>
            <a:ext cx="8390600" cy="4045520"/>
            <a:chOff x="446317" y="1683769"/>
            <a:chExt cx="8390600" cy="4045520"/>
          </a:xfrm>
        </p:grpSpPr>
        <p:pic>
          <p:nvPicPr>
            <p:cNvPr id="3" name="Picture 2"/>
            <p:cNvPicPr>
              <a:picLocks noChangeAspect="1"/>
            </p:cNvPicPr>
            <p:nvPr/>
          </p:nvPicPr>
          <p:blipFill>
            <a:blip r:embed="rId3"/>
            <a:stretch>
              <a:fillRect/>
            </a:stretch>
          </p:blipFill>
          <p:spPr>
            <a:xfrm>
              <a:off x="457200" y="1683769"/>
              <a:ext cx="8379717" cy="4045520"/>
            </a:xfrm>
            <a:prstGeom prst="rect">
              <a:avLst/>
            </a:prstGeom>
          </p:spPr>
        </p:pic>
        <p:sp>
          <p:nvSpPr>
            <p:cNvPr id="2" name="Rectangle 1"/>
            <p:cNvSpPr/>
            <p:nvPr/>
          </p:nvSpPr>
          <p:spPr>
            <a:xfrm>
              <a:off x="3998756" y="1887021"/>
              <a:ext cx="2632387" cy="369332"/>
            </a:xfrm>
            <a:prstGeom prst="rect">
              <a:avLst/>
            </a:prstGeom>
          </p:spPr>
          <p:txBody>
            <a:bodyPr wrap="none">
              <a:spAutoFit/>
            </a:bodyPr>
            <a:lstStyle/>
            <a:p>
              <a:r>
                <a:rPr lang="en-US" dirty="0"/>
                <a:t>Cobra 4 Force Sensor-Unit</a:t>
              </a:r>
            </a:p>
          </p:txBody>
        </p:sp>
        <p:sp>
          <p:nvSpPr>
            <p:cNvPr id="4" name="Rectangle 3"/>
            <p:cNvSpPr/>
            <p:nvPr/>
          </p:nvSpPr>
          <p:spPr>
            <a:xfrm>
              <a:off x="2595531" y="5173146"/>
              <a:ext cx="1838388" cy="369332"/>
            </a:xfrm>
            <a:prstGeom prst="rect">
              <a:avLst/>
            </a:prstGeom>
          </p:spPr>
          <p:txBody>
            <a:bodyPr wrap="none">
              <a:spAutoFit/>
            </a:bodyPr>
            <a:lstStyle/>
            <a:p>
              <a:r>
                <a:rPr lang="en-US" dirty="0"/>
                <a:t>Laboratory motor</a:t>
              </a:r>
            </a:p>
          </p:txBody>
        </p:sp>
        <p:sp>
          <p:nvSpPr>
            <p:cNvPr id="5" name="Rectangle 4"/>
            <p:cNvSpPr/>
            <p:nvPr/>
          </p:nvSpPr>
          <p:spPr>
            <a:xfrm>
              <a:off x="3739560" y="3822972"/>
              <a:ext cx="554960" cy="369332"/>
            </a:xfrm>
            <a:prstGeom prst="rect">
              <a:avLst/>
            </a:prstGeom>
          </p:spPr>
          <p:txBody>
            <a:bodyPr wrap="none">
              <a:spAutoFit/>
            </a:bodyPr>
            <a:lstStyle/>
            <a:p>
              <a:r>
                <a:rPr lang="en-US" dirty="0"/>
                <a:t>Belt</a:t>
              </a:r>
            </a:p>
          </p:txBody>
        </p:sp>
        <p:sp>
          <p:nvSpPr>
            <p:cNvPr id="6" name="Rectangle 5"/>
            <p:cNvSpPr/>
            <p:nvPr/>
          </p:nvSpPr>
          <p:spPr>
            <a:xfrm>
              <a:off x="457200" y="2256353"/>
              <a:ext cx="1904367" cy="369332"/>
            </a:xfrm>
            <a:prstGeom prst="rect">
              <a:avLst/>
            </a:prstGeom>
          </p:spPr>
          <p:txBody>
            <a:bodyPr wrap="none">
              <a:spAutoFit/>
            </a:bodyPr>
            <a:lstStyle/>
            <a:p>
              <a:r>
                <a:rPr lang="en-US" dirty="0"/>
                <a:t>Rotating cart track</a:t>
              </a:r>
            </a:p>
          </p:txBody>
        </p:sp>
        <p:sp>
          <p:nvSpPr>
            <p:cNvPr id="7" name="Rectangle 6"/>
            <p:cNvSpPr/>
            <p:nvPr/>
          </p:nvSpPr>
          <p:spPr>
            <a:xfrm>
              <a:off x="2910720" y="2522484"/>
              <a:ext cx="1420645" cy="369332"/>
            </a:xfrm>
            <a:prstGeom prst="rect">
              <a:avLst/>
            </a:prstGeom>
          </p:spPr>
          <p:txBody>
            <a:bodyPr wrap="none">
              <a:spAutoFit/>
            </a:bodyPr>
            <a:lstStyle/>
            <a:p>
              <a:r>
                <a:rPr lang="en-US" dirty="0"/>
                <a:t>Movable cart</a:t>
              </a:r>
            </a:p>
          </p:txBody>
        </p:sp>
        <p:cxnSp>
          <p:nvCxnSpPr>
            <p:cNvPr id="9" name="Straight Arrow Connector 8"/>
            <p:cNvCxnSpPr/>
            <p:nvPr/>
          </p:nvCxnSpPr>
          <p:spPr>
            <a:xfrm>
              <a:off x="5443538" y="2256353"/>
              <a:ext cx="814387" cy="6354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p:nvPicPr>
          <p:blipFill>
            <a:blip r:embed="rId4"/>
            <a:stretch>
              <a:fillRect/>
            </a:stretch>
          </p:blipFill>
          <p:spPr>
            <a:xfrm rot="1860037">
              <a:off x="446317" y="2912834"/>
              <a:ext cx="1447082" cy="1197287"/>
            </a:xfrm>
            <a:prstGeom prst="rect">
              <a:avLst/>
            </a:prstGeom>
          </p:spPr>
        </p:pic>
        <p:cxnSp>
          <p:nvCxnSpPr>
            <p:cNvPr id="12" name="Straight Arrow Connector 11"/>
            <p:cNvCxnSpPr/>
            <p:nvPr/>
          </p:nvCxnSpPr>
          <p:spPr>
            <a:xfrm flipH="1">
              <a:off x="2647533" y="2869777"/>
              <a:ext cx="973509" cy="64170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3144874" y="4021461"/>
              <a:ext cx="628569" cy="53202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3935327" y="4697485"/>
              <a:ext cx="893848" cy="46669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890669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GB" altLang="en-US" u="sng" dirty="0" smtClean="0"/>
              <a:t>Determination </a:t>
            </a:r>
            <a:r>
              <a:rPr lang="en-GB" altLang="en-US" u="sng" dirty="0"/>
              <a:t>of the angular velocity of the cart </a:t>
            </a:r>
            <a:endParaRPr lang="en-US" altLang="en-US" u="sng" dirty="0" smtClean="0"/>
          </a:p>
        </p:txBody>
      </p:sp>
      <p:pic>
        <p:nvPicPr>
          <p:cNvPr id="2" name="Picture 1"/>
          <p:cNvPicPr>
            <a:picLocks noChangeAspect="1"/>
          </p:cNvPicPr>
          <p:nvPr/>
        </p:nvPicPr>
        <p:blipFill>
          <a:blip r:embed="rId3"/>
          <a:stretch>
            <a:fillRect/>
          </a:stretch>
        </p:blipFill>
        <p:spPr>
          <a:xfrm>
            <a:off x="5340263" y="1889334"/>
            <a:ext cx="3496743" cy="1439653"/>
          </a:xfrm>
          <a:prstGeom prst="rect">
            <a:avLst/>
          </a:prstGeom>
        </p:spPr>
      </p:pic>
      <p:sp>
        <p:nvSpPr>
          <p:cNvPr id="5" name="Content Placeholder 3"/>
          <p:cNvSpPr>
            <a:spLocks noGrp="1"/>
          </p:cNvSpPr>
          <p:nvPr>
            <p:ph idx="1"/>
          </p:nvPr>
        </p:nvSpPr>
        <p:spPr>
          <a:xfrm>
            <a:off x="100014" y="1889335"/>
            <a:ext cx="5114924" cy="1439652"/>
          </a:xfrm>
        </p:spPr>
        <p:txBody>
          <a:bodyPr/>
          <a:lstStyle/>
          <a:p>
            <a:pPr algn="just">
              <a:buFont typeface="Arial" charset="0"/>
              <a:buChar char="•"/>
              <a:defRPr/>
            </a:pPr>
            <a:r>
              <a:rPr lang="en-GB" sz="2400" dirty="0"/>
              <a:t>The output force vs. time graph will have a sinusoidal </a:t>
            </a:r>
            <a:r>
              <a:rPr lang="en-GB" sz="2400" dirty="0" smtClean="0"/>
              <a:t>behaviour. </a:t>
            </a:r>
            <a:endParaRPr lang="en-GB" sz="2400" dirty="0"/>
          </a:p>
          <a:p>
            <a:pPr algn="just">
              <a:buFont typeface="Arial" charset="0"/>
              <a:buChar char="•"/>
              <a:defRPr/>
            </a:pPr>
            <a:r>
              <a:rPr lang="en-GB" sz="2400" dirty="0" smtClean="0"/>
              <a:t>Why?</a:t>
            </a:r>
          </a:p>
        </p:txBody>
      </p:sp>
      <p:pic>
        <p:nvPicPr>
          <p:cNvPr id="7" name="Picture 6"/>
          <p:cNvPicPr>
            <a:picLocks noChangeAspect="1"/>
          </p:cNvPicPr>
          <p:nvPr/>
        </p:nvPicPr>
        <p:blipFill>
          <a:blip r:embed="rId4"/>
          <a:stretch>
            <a:fillRect/>
          </a:stretch>
        </p:blipFill>
        <p:spPr>
          <a:xfrm>
            <a:off x="5429163" y="3800683"/>
            <a:ext cx="3236299" cy="2618685"/>
          </a:xfrm>
          <a:prstGeom prst="rect">
            <a:avLst/>
          </a:prstGeom>
        </p:spPr>
      </p:pic>
      <p:sp>
        <p:nvSpPr>
          <p:cNvPr id="9" name="Content Placeholder 3"/>
          <p:cNvSpPr txBox="1">
            <a:spLocks/>
          </p:cNvSpPr>
          <p:nvPr/>
        </p:nvSpPr>
        <p:spPr bwMode="auto">
          <a:xfrm>
            <a:off x="100014" y="3800683"/>
            <a:ext cx="5114924"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buFont typeface="Arial" charset="0"/>
              <a:buChar char="•"/>
              <a:defRPr/>
            </a:pPr>
            <a:r>
              <a:rPr lang="en-GB" sz="2400" dirty="0" smtClean="0"/>
              <a:t>When the cart track (2) is rotating, the eye (12) moves slightly back and forth, causing the circular path radius to change slightly (about the adjusted radius) during the circular motion (Recall that 𝐹 ∝𝑅 𝑎𝑡 fixed 𝜔). </a:t>
            </a:r>
          </a:p>
        </p:txBody>
      </p:sp>
    </p:spTree>
    <p:extLst>
      <p:ext uri="{BB962C8B-B14F-4D97-AF65-F5344CB8AC3E}">
        <p14:creationId xmlns:p14="http://schemas.microsoft.com/office/powerpoint/2010/main" val="389127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 calcmode="lin" valueType="num">
                                      <p:cBhvr>
                                        <p:cTn id="15"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124807"/>
            <a:ext cx="8015288" cy="600533"/>
          </a:xfrm>
        </p:spPr>
        <p:txBody>
          <a:bodyPr/>
          <a:lstStyle/>
          <a:p>
            <a:pPr eaLnBrk="1" hangingPunct="1"/>
            <a:r>
              <a:rPr lang="en-GB" altLang="en-US" u="sng" dirty="0" smtClean="0"/>
              <a:t>Tasks</a:t>
            </a:r>
            <a:endParaRPr lang="en-US" altLang="en-US" u="sng" dirty="0" smtClean="0"/>
          </a:p>
        </p:txBody>
      </p:sp>
      <mc:AlternateContent xmlns:mc="http://schemas.openxmlformats.org/markup-compatibility/2006" xmlns:a14="http://schemas.microsoft.com/office/drawing/2010/main">
        <mc:Choice Requires="a14">
          <p:sp>
            <p:nvSpPr>
              <p:cNvPr id="12" name="Rectangle 11"/>
              <p:cNvSpPr/>
              <p:nvPr/>
            </p:nvSpPr>
            <p:spPr>
              <a:xfrm>
                <a:off x="4658320" y="4869030"/>
                <a:ext cx="3288922" cy="707886"/>
              </a:xfrm>
              <a:prstGeom prst="rect">
                <a:avLst/>
              </a:prstGeom>
            </p:spPr>
            <p:txBody>
              <a:bodyPr wrap="square">
                <a:spAutoFit/>
              </a:bodyPr>
              <a:lstStyle/>
              <a:p>
                <a:pPr marL="0" indent="0" algn="ctr">
                  <a:buNone/>
                  <a:defRPr/>
                </a:pPr>
                <a14:m>
                  <m:oMathPara xmlns:m="http://schemas.openxmlformats.org/officeDocument/2006/math">
                    <m:oMathParaPr>
                      <m:jc m:val="centerGroup"/>
                    </m:oMathParaPr>
                    <m:oMath xmlns:m="http://schemas.openxmlformats.org/officeDocument/2006/math">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a:rPr>
                            <m:t>𝐹</m:t>
                          </m:r>
                        </m:e>
                        <m:sub>
                          <m:r>
                            <a:rPr lang="en-US" sz="4000" i="1">
                              <a:solidFill>
                                <a:srgbClr val="FF0000"/>
                              </a:solidFill>
                              <a:latin typeface="Cambria Math"/>
                            </a:rPr>
                            <m:t>𝑐</m:t>
                          </m:r>
                        </m:sub>
                      </m:sSub>
                      <m:r>
                        <a:rPr lang="en-US" sz="4000" i="1">
                          <a:solidFill>
                            <a:srgbClr val="FF0000"/>
                          </a:solidFill>
                          <a:latin typeface="Cambria Math"/>
                        </a:rPr>
                        <m:t>=</m:t>
                      </m:r>
                      <m:r>
                        <a:rPr lang="en-US" sz="4000" i="1">
                          <a:solidFill>
                            <a:srgbClr val="FF0000"/>
                          </a:solidFill>
                          <a:latin typeface="Cambria Math"/>
                        </a:rPr>
                        <m:t>𝑚</m:t>
                      </m:r>
                      <m:sSup>
                        <m:sSupPr>
                          <m:ctrlPr>
                            <a:rPr lang="en-US" sz="4000" i="1">
                              <a:solidFill>
                                <a:srgbClr val="FF0000"/>
                              </a:solidFill>
                              <a:latin typeface="Cambria Math" panose="02040503050406030204" pitchFamily="18" charset="0"/>
                            </a:rPr>
                          </m:ctrlPr>
                        </m:sSupPr>
                        <m:e>
                          <m:r>
                            <a:rPr lang="en-US" sz="4000" i="1">
                              <a:solidFill>
                                <a:srgbClr val="FF0000"/>
                              </a:solidFill>
                              <a:latin typeface="Cambria Math"/>
                            </a:rPr>
                            <m:t>𝜔</m:t>
                          </m:r>
                        </m:e>
                        <m:sup>
                          <m:r>
                            <a:rPr lang="en-US" sz="4000" i="1">
                              <a:solidFill>
                                <a:srgbClr val="FF0000"/>
                              </a:solidFill>
                              <a:latin typeface="Cambria Math"/>
                            </a:rPr>
                            <m:t>2</m:t>
                          </m:r>
                        </m:sup>
                      </m:sSup>
                      <m:r>
                        <a:rPr lang="en-US" sz="4000" i="1">
                          <a:solidFill>
                            <a:srgbClr val="FF0000"/>
                          </a:solidFill>
                          <a:latin typeface="Cambria Math"/>
                        </a:rPr>
                        <m:t>𝑅</m:t>
                      </m:r>
                    </m:oMath>
                  </m:oMathPara>
                </a14:m>
                <a:endParaRPr lang="en-US" sz="4000" i="1" dirty="0">
                  <a:solidFill>
                    <a:srgbClr val="FF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4658320" y="4869030"/>
                <a:ext cx="3288922" cy="707886"/>
              </a:xfrm>
              <a:prstGeom prst="rect">
                <a:avLst/>
              </a:prstGeom>
              <a:blipFill rotWithShape="0">
                <a:blip r:embed="rId3"/>
                <a:stretch>
                  <a:fillRect/>
                </a:stretch>
              </a:blipFill>
            </p:spPr>
            <p:txBody>
              <a:bodyPr/>
              <a:lstStyle/>
              <a:p>
                <a:r>
                  <a:rPr lang="en-US">
                    <a:noFill/>
                  </a:rPr>
                  <a:t> </a:t>
                </a:r>
              </a:p>
            </p:txBody>
          </p:sp>
        </mc:Fallback>
      </mc:AlternateContent>
      <p:grpSp>
        <p:nvGrpSpPr>
          <p:cNvPr id="17" name="Group 16"/>
          <p:cNvGrpSpPr/>
          <p:nvPr/>
        </p:nvGrpSpPr>
        <p:grpSpPr>
          <a:xfrm>
            <a:off x="3690359" y="1661306"/>
            <a:ext cx="5224843" cy="2946487"/>
            <a:chOff x="2046137" y="1871285"/>
            <a:chExt cx="5414211" cy="3068429"/>
          </a:xfrm>
        </p:grpSpPr>
        <p:pic>
          <p:nvPicPr>
            <p:cNvPr id="6" name="Picture 5"/>
            <p:cNvPicPr>
              <a:picLocks noChangeAspect="1"/>
            </p:cNvPicPr>
            <p:nvPr/>
          </p:nvPicPr>
          <p:blipFill>
            <a:blip r:embed="rId4"/>
            <a:stretch>
              <a:fillRect/>
            </a:stretch>
          </p:blipFill>
          <p:spPr>
            <a:xfrm>
              <a:off x="2046137" y="1871285"/>
              <a:ext cx="5414211" cy="3068429"/>
            </a:xfrm>
            <a:prstGeom prst="rect">
              <a:avLst/>
            </a:prstGeom>
          </p:spPr>
        </p:pic>
        <p:cxnSp>
          <p:nvCxnSpPr>
            <p:cNvPr id="8" name="Straight Arrow Connector 7"/>
            <p:cNvCxnSpPr/>
            <p:nvPr/>
          </p:nvCxnSpPr>
          <p:spPr>
            <a:xfrm flipH="1">
              <a:off x="4367481" y="3643313"/>
              <a:ext cx="785812" cy="0"/>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Curved Left Arrow 8"/>
            <p:cNvSpPr/>
            <p:nvPr/>
          </p:nvSpPr>
          <p:spPr>
            <a:xfrm>
              <a:off x="3657600" y="2042716"/>
              <a:ext cx="614363" cy="600075"/>
            </a:xfrm>
            <a:prstGeom prst="curvedLeftArrow">
              <a:avLst/>
            </a:prstGeom>
            <a:gradFill>
              <a:gsLst>
                <a:gs pos="10000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3" name="Rectangle 12"/>
                <p:cNvSpPr/>
                <p:nvPr/>
              </p:nvSpPr>
              <p:spPr>
                <a:xfrm>
                  <a:off x="6059302" y="2766386"/>
                  <a:ext cx="683072"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solidFill>
                              <a:srgbClr val="FF0000"/>
                            </a:solidFill>
                            <a:latin typeface="Cambria Math"/>
                          </a:rPr>
                          <m:t>𝑚</m:t>
                        </m:r>
                      </m:oMath>
                    </m:oMathPara>
                  </a14:m>
                  <a:endParaRPr lang="en-US" sz="3600" dirty="0"/>
                </a:p>
              </p:txBody>
            </p:sp>
          </mc:Choice>
          <mc:Fallback xmlns="">
            <p:sp>
              <p:nvSpPr>
                <p:cNvPr id="13" name="Rectangle 12"/>
                <p:cNvSpPr>
                  <a:spLocks noRot="1" noChangeAspect="1" noMove="1" noResize="1" noEditPoints="1" noAdjustHandles="1" noChangeArrowheads="1" noChangeShapeType="1" noTextEdit="1"/>
                </p:cNvSpPr>
                <p:nvPr/>
              </p:nvSpPr>
              <p:spPr>
                <a:xfrm>
                  <a:off x="6059302" y="2766386"/>
                  <a:ext cx="683072" cy="64633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412925" y="2921168"/>
                  <a:ext cx="68063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a:rPr>
                              <m:t>𝐹</m:t>
                            </m:r>
                          </m:e>
                          <m:sub>
                            <m:r>
                              <a:rPr lang="en-US" sz="3600" i="1">
                                <a:solidFill>
                                  <a:srgbClr val="FF0000"/>
                                </a:solidFill>
                                <a:latin typeface="Cambria Math"/>
                              </a:rPr>
                              <m:t>𝑐</m:t>
                            </m:r>
                          </m:sub>
                        </m:sSub>
                      </m:oMath>
                    </m:oMathPara>
                  </a14:m>
                  <a:endParaRPr lang="en-US" sz="3600" dirty="0"/>
                </a:p>
              </p:txBody>
            </p:sp>
          </mc:Choice>
          <mc:Fallback xmlns="">
            <p:sp>
              <p:nvSpPr>
                <p:cNvPr id="15" name="Rectangle 14"/>
                <p:cNvSpPr>
                  <a:spLocks noRot="1" noChangeAspect="1" noMove="1" noResize="1" noEditPoints="1" noAdjustHandles="1" noChangeArrowheads="1" noChangeShapeType="1" noTextEdit="1"/>
                </p:cNvSpPr>
                <p:nvPr/>
              </p:nvSpPr>
              <p:spPr>
                <a:xfrm>
                  <a:off x="4412925" y="2921168"/>
                  <a:ext cx="680636" cy="64633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994893" y="1871286"/>
                  <a:ext cx="634020"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solidFill>
                              <a:srgbClr val="FF0000"/>
                            </a:solidFill>
                            <a:latin typeface="Cambria Math" panose="02040503050406030204" pitchFamily="18" charset="0"/>
                            <a:ea typeface="Cambria Math" panose="02040503050406030204" pitchFamily="18" charset="0"/>
                          </a:rPr>
                          <m:t>𝜔</m:t>
                        </m:r>
                      </m:oMath>
                    </m:oMathPara>
                  </a14:m>
                  <a:endParaRPr lang="en-US" sz="3600" dirty="0"/>
                </a:p>
              </p:txBody>
            </p:sp>
          </mc:Choice>
          <mc:Fallback xmlns="">
            <p:sp>
              <p:nvSpPr>
                <p:cNvPr id="16" name="Rectangle 15"/>
                <p:cNvSpPr>
                  <a:spLocks noRot="1" noChangeAspect="1" noMove="1" noResize="1" noEditPoints="1" noAdjustHandles="1" noChangeArrowheads="1" noChangeShapeType="1" noTextEdit="1"/>
                </p:cNvSpPr>
                <p:nvPr/>
              </p:nvSpPr>
              <p:spPr>
                <a:xfrm>
                  <a:off x="2994893" y="1871286"/>
                  <a:ext cx="634020" cy="646331"/>
                </a:xfrm>
                <a:prstGeom prst="rect">
                  <a:avLst/>
                </a:prstGeom>
                <a:blipFill rotWithShape="0">
                  <a:blip r:embed="rId7"/>
                  <a:stretch>
                    <a:fillRect/>
                  </a:stretch>
                </a:blipFill>
              </p:spPr>
              <p:txBody>
                <a:bodyPr/>
                <a:lstStyle/>
                <a:p>
                  <a:r>
                    <a:rPr lang="en-US">
                      <a:noFill/>
                    </a:rPr>
                    <a:t> </a:t>
                  </a:r>
                </a:p>
              </p:txBody>
            </p:sp>
          </mc:Fallback>
        </mc:AlternateContent>
      </p:grpSp>
      <p:sp>
        <p:nvSpPr>
          <p:cNvPr id="20" name="Content Placeholder 2"/>
          <p:cNvSpPr>
            <a:spLocks noGrp="1"/>
          </p:cNvSpPr>
          <p:nvPr>
            <p:ph idx="1"/>
          </p:nvPr>
        </p:nvSpPr>
        <p:spPr>
          <a:xfrm>
            <a:off x="232537" y="1418656"/>
            <a:ext cx="3167887" cy="4639244"/>
          </a:xfrm>
        </p:spPr>
        <p:txBody>
          <a:bodyPr>
            <a:normAutofit/>
          </a:bodyPr>
          <a:lstStyle/>
          <a:p>
            <a:pPr lvl="0" algn="just"/>
            <a:r>
              <a:rPr lang="en-GB" sz="2000" dirty="0"/>
              <a:t>Investigate the </a:t>
            </a:r>
            <a:r>
              <a:rPr lang="en-GB" sz="2000" dirty="0" smtClean="0"/>
              <a:t>relation </a:t>
            </a:r>
            <a:r>
              <a:rPr lang="en-GB" sz="2000" dirty="0"/>
              <a:t>between the centripetal force and the mass of the body.</a:t>
            </a:r>
          </a:p>
          <a:p>
            <a:pPr lvl="0" algn="just"/>
            <a:r>
              <a:rPr lang="en-GB" sz="2000" dirty="0"/>
              <a:t>Investigate the </a:t>
            </a:r>
            <a:r>
              <a:rPr lang="en-GB" sz="2000" dirty="0" smtClean="0"/>
              <a:t>relation </a:t>
            </a:r>
            <a:r>
              <a:rPr lang="en-GB" sz="2000" dirty="0"/>
              <a:t>between the centripetal force and the angular velocity of the rotating mass.</a:t>
            </a:r>
          </a:p>
          <a:p>
            <a:pPr lvl="0" algn="just"/>
            <a:r>
              <a:rPr lang="en-GB" sz="2000" dirty="0"/>
              <a:t>Investigate the </a:t>
            </a:r>
            <a:r>
              <a:rPr lang="en-GB" sz="2000" dirty="0" smtClean="0"/>
              <a:t>relation </a:t>
            </a:r>
            <a:r>
              <a:rPr lang="en-GB" sz="2000" dirty="0"/>
              <a:t>between the centripetal force and the radius of the circular path.</a:t>
            </a:r>
            <a:endParaRPr lang="en-US" sz="2000" dirty="0"/>
          </a:p>
        </p:txBody>
      </p:sp>
    </p:spTree>
    <p:extLst>
      <p:ext uri="{BB962C8B-B14F-4D97-AF65-F5344CB8AC3E}">
        <p14:creationId xmlns:p14="http://schemas.microsoft.com/office/powerpoint/2010/main" val="167410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b="1" dirty="0" smtClean="0"/>
              <a:t>Objectives of Experiment 5</a:t>
            </a:r>
          </a:p>
        </p:txBody>
      </p:sp>
      <p:sp>
        <p:nvSpPr>
          <p:cNvPr id="10243" name="Content Placeholder 2"/>
          <p:cNvSpPr>
            <a:spLocks noGrp="1"/>
          </p:cNvSpPr>
          <p:nvPr>
            <p:ph idx="1"/>
          </p:nvPr>
        </p:nvSpPr>
        <p:spPr/>
        <p:txBody>
          <a:bodyPr>
            <a:normAutofit fontScale="92500" lnSpcReduction="10000"/>
          </a:bodyPr>
          <a:lstStyle/>
          <a:p>
            <a:pPr lvl="0" algn="just"/>
            <a:r>
              <a:rPr lang="en-GB" dirty="0" smtClean="0"/>
              <a:t>Learn </a:t>
            </a:r>
            <a:r>
              <a:rPr lang="en-GB" dirty="0"/>
              <a:t>about the parameters of the uniform circular motion of a body (centripetal force, tangential velocity, angular velocity, centripetal acceleration).</a:t>
            </a:r>
          </a:p>
          <a:p>
            <a:pPr lvl="0" algn="just"/>
            <a:r>
              <a:rPr lang="en-GB" dirty="0" smtClean="0"/>
              <a:t>Verify the </a:t>
            </a:r>
            <a:r>
              <a:rPr lang="en-GB" dirty="0"/>
              <a:t>relation between the centripetal force and </a:t>
            </a:r>
            <a:endParaRPr lang="en-GB" dirty="0" smtClean="0"/>
          </a:p>
          <a:p>
            <a:pPr marL="0" lvl="0" indent="0" algn="just">
              <a:buNone/>
            </a:pPr>
            <a:r>
              <a:rPr lang="en-GB" dirty="0"/>
              <a:t> </a:t>
            </a:r>
            <a:r>
              <a:rPr lang="en-GB" dirty="0" smtClean="0"/>
              <a:t>            - the </a:t>
            </a:r>
            <a:r>
              <a:rPr lang="en-GB" dirty="0"/>
              <a:t>mass of the body.</a:t>
            </a:r>
          </a:p>
          <a:p>
            <a:pPr marL="0" lvl="0" indent="0" algn="just">
              <a:buNone/>
            </a:pPr>
            <a:r>
              <a:rPr lang="en-GB" dirty="0"/>
              <a:t> </a:t>
            </a:r>
            <a:r>
              <a:rPr lang="en-GB" dirty="0" smtClean="0"/>
              <a:t>            - the </a:t>
            </a:r>
            <a:r>
              <a:rPr lang="en-GB" dirty="0"/>
              <a:t>angular velocity of the rotating mass.</a:t>
            </a:r>
          </a:p>
          <a:p>
            <a:pPr marL="0" lvl="0" indent="0" algn="just">
              <a:buNone/>
            </a:pPr>
            <a:r>
              <a:rPr lang="en-GB" dirty="0" smtClean="0"/>
              <a:t>             - the </a:t>
            </a:r>
            <a:r>
              <a:rPr lang="en-GB" dirty="0"/>
              <a:t>radius of the circular path.</a:t>
            </a:r>
            <a:endParaRPr lang="en-US" dirty="0"/>
          </a:p>
        </p:txBody>
      </p:sp>
    </p:spTree>
    <p:extLst>
      <p:ext uri="{BB962C8B-B14F-4D97-AF65-F5344CB8AC3E}">
        <p14:creationId xmlns:p14="http://schemas.microsoft.com/office/powerpoint/2010/main" val="4127920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2084</TotalTime>
  <Words>542</Words>
  <Application>Microsoft Office PowerPoint</Application>
  <PresentationFormat>On-screen Show (4:3)</PresentationFormat>
  <Paragraphs>56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 Math</vt:lpstr>
      <vt:lpstr>Symbol</vt:lpstr>
      <vt:lpstr>Times New Roman</vt:lpstr>
      <vt:lpstr>Office Theme</vt:lpstr>
      <vt:lpstr>PHYS 111 Experiment 5 Dynamics of Circular Motion (Centripetal Force)</vt:lpstr>
      <vt:lpstr>Dynamics of Circular Motion</vt:lpstr>
      <vt:lpstr>Dynamics of Circular Motion</vt:lpstr>
      <vt:lpstr>Dynamics of Circular Motion</vt:lpstr>
      <vt:lpstr>Experimental setup</vt:lpstr>
      <vt:lpstr>Determination of the angular velocity of the cart </vt:lpstr>
      <vt:lpstr>Tasks</vt:lpstr>
      <vt:lpstr>Objectives of Experiment 5</vt:lpstr>
    </vt:vector>
  </TitlesOfParts>
  <Company>louisiana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 111 Experiment 2</dc:title>
  <dc:creator>fareed aboul-ela</dc:creator>
  <cp:lastModifiedBy>Physics Lab 01</cp:lastModifiedBy>
  <cp:revision>139</cp:revision>
  <dcterms:created xsi:type="dcterms:W3CDTF">2014-10-10T16:30:34Z</dcterms:created>
  <dcterms:modified xsi:type="dcterms:W3CDTF">2020-11-26T14:16:24Z</dcterms:modified>
</cp:coreProperties>
</file>