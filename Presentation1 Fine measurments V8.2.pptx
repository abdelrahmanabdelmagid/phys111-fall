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6" roundtripDataSignature="AMtx7mg6LqZpfdX6Qhot7syEYtecNF97W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Dr.Essa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128CF8-3363-4F87-9B6B-7975B5D47504}">
  <a:tblStyle styleId="{92128CF8-3363-4F87-9B6B-7975B5D475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customschemas.google.com/relationships/presentationmetadata" Target="meta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14-10-10T21:35:25.992">
    <p:pos x="10" y="10"/>
    <p:text/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HJDWdB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can use the second bullet point to initiate a discussion amongst the students:  Can an instrument reduce systematic error?  If so, in what cases?  Can an instrument reduce random error?  If so, when and how?</a:t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Copied from the text, but we need to say that the density is the average measurement, computed using the averages of the measured quantities.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jpg"/><Relationship Id="rId9" Type="http://schemas.openxmlformats.org/officeDocument/2006/relationships/image" Target="../media/image8.gif"/><Relationship Id="rId5" Type="http://schemas.openxmlformats.org/officeDocument/2006/relationships/image" Target="../media/image5.jp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tefanelli.eng.br/en/virtual-vernier-caliper-simulator-05-millimeter/" TargetMode="External"/><Relationship Id="rId4" Type="http://schemas.openxmlformats.org/officeDocument/2006/relationships/hyperlink" Target="https://www.stefanelli.eng.br/en/use-reading-micrometer-hundredth-millimeter/" TargetMode="External"/><Relationship Id="rId5" Type="http://schemas.openxmlformats.org/officeDocument/2006/relationships/hyperlink" Target="https://www.stefanelli.eng.br/en/virtual-dial-indicator-simulator-hundredths-millimeter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PHYS 111 Experiment 1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Fall 2020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Foundation Physics Team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Objectives of Experiment 1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Take a series of measurements using various measuring tools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Estimate the Random Error for Individual Measurements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Estimate the Random Error for Computed Quantities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Determine Sources of random and Systematic Errors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Fine Measurements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There is a limit to the </a:t>
            </a:r>
            <a:r>
              <a:rPr b="1" i="1" lang="en-US">
                <a:solidFill>
                  <a:srgbClr val="FF0000"/>
                </a:solidFill>
              </a:rPr>
              <a:t>accuracy</a:t>
            </a:r>
            <a:r>
              <a:rPr b="1" lang="en-US"/>
              <a:t> and </a:t>
            </a:r>
            <a:r>
              <a:rPr b="1" i="1" lang="en-US">
                <a:solidFill>
                  <a:srgbClr val="FF0000"/>
                </a:solidFill>
              </a:rPr>
              <a:t>precision</a:t>
            </a:r>
            <a:r>
              <a:rPr b="1" lang="en-US"/>
              <a:t> of any measurement.</a:t>
            </a:r>
            <a:endParaRPr/>
          </a:p>
          <a:p>
            <a:pPr indent="0" lvl="0" marL="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Two types of errors may affect the measurements: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–"/>
            </a:pPr>
            <a:r>
              <a:rPr b="1" lang="en-US">
                <a:solidFill>
                  <a:srgbClr val="FF0000"/>
                </a:solidFill>
              </a:rPr>
              <a:t>Random error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–"/>
            </a:pPr>
            <a:r>
              <a:rPr b="1" lang="en-US">
                <a:solidFill>
                  <a:srgbClr val="FF0000"/>
                </a:solidFill>
              </a:rPr>
              <a:t>Systematic error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215153" y="274638"/>
            <a:ext cx="878092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Many Tools are used in our lab for Measurements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00200"/>
            <a:ext cx="8229600" cy="512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54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-18542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-18542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n-US" sz="2480"/>
              <a:t>   Measuring Tape          Timer/stopwatch        Dial Gauge</a:t>
            </a:r>
            <a:endParaRPr/>
          </a:p>
          <a:p>
            <a:pPr indent="-18542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-18542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-18542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n-US" sz="2480"/>
              <a:t>                                                    Balances</a:t>
            </a:r>
            <a:endParaRPr/>
          </a:p>
          <a:p>
            <a:pPr indent="-18542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en-US" sz="2480"/>
              <a:t>                      Vernier Caliper                         Micrometer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80"/>
          </a:p>
        </p:txBody>
      </p:sp>
      <p:pic>
        <p:nvPicPr>
          <p:cNvPr descr="AA023077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50" y="1336725"/>
            <a:ext cx="1452282" cy="1311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cdn.teachersource.com/images/products/pop/bal160.jpg"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4291" y="3279631"/>
            <a:ext cx="1983335" cy="1266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robbinssports.com/images/accusplit_601X_stopwatch.jpg" id="113" name="Google Shape;11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1138" y="1336725"/>
            <a:ext cx="1205150" cy="12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0650" y="5079427"/>
            <a:ext cx="3411916" cy="112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7659" y="4637413"/>
            <a:ext cx="2850765" cy="1568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cdn.teachersource.com/images/uploads/1612_1262_popup.jpg" id="116" name="Google Shape;11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54034" y="3252716"/>
            <a:ext cx="2030974" cy="135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rotagriponline.com/components/com_virtuemart/shop_image/product/Mercer_Dial_Gaug_4a63498932401.gif" id="117" name="Google Shape;11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6196561" y="1122818"/>
            <a:ext cx="1632963" cy="163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Useful links:</a:t>
            </a:r>
            <a:endParaRPr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Vernier Caliper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https://www.stefanelli.eng.br/en/virtual-vernier-caliper-simulator-05-millimeter/</a:t>
            </a:r>
            <a:endParaRPr sz="2400"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Micrometer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u="sng">
                <a:solidFill>
                  <a:schemeClr val="hlink"/>
                </a:solidFill>
                <a:hlinkClick r:id="rId4"/>
              </a:rPr>
              <a:t>https://www.stefanelli.eng.br/en/use-reading-micrometer-hundredth-millimeter/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Dial Gauge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u="sng">
                <a:solidFill>
                  <a:schemeClr val="hlink"/>
                </a:solidFill>
                <a:hlinkClick r:id="rId5"/>
              </a:rPr>
              <a:t>https://www.stefanelli.eng.br/en/virtual-dial-indicator-simulator-hundredths-millimeter/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/>
        </p:nvSpPr>
        <p:spPr>
          <a:xfrm>
            <a:off x="457200" y="3142968"/>
            <a:ext cx="8229600" cy="1724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9"/>
              <a:buFont typeface="Calibri"/>
              <a:buNone/>
            </a:pPr>
            <a:r>
              <a:rPr b="1" i="0" lang="en-US" sz="350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30" name="Google Shape;130;p6"/>
          <p:cNvSpPr txBox="1"/>
          <p:nvPr>
            <p:ph type="title"/>
          </p:nvPr>
        </p:nvSpPr>
        <p:spPr>
          <a:xfrm>
            <a:off x="457200" y="1881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Uncertainty in measurements</a:t>
            </a:r>
            <a:endParaRPr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457200" y="1340705"/>
            <a:ext cx="8229600" cy="50848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40" r="0" t="-17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7693919" y="1163783"/>
            <a:ext cx="622476" cy="2161307"/>
          </a:xfrm>
          <a:prstGeom prst="can">
            <a:avLst>
              <a:gd fmla="val 58333" name="adj"/>
            </a:avLst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742455" y="2074109"/>
            <a:ext cx="573939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457200" y="1063707"/>
            <a:ext cx="8229600" cy="127600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951" l="-1258" r="0" t="-95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41" name="Google Shape;141;p7"/>
          <p:cNvSpPr txBox="1"/>
          <p:nvPr>
            <p:ph type="title"/>
          </p:nvPr>
        </p:nvSpPr>
        <p:spPr>
          <a:xfrm>
            <a:off x="457200" y="2078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Example : Density of a steel Cylinder</a:t>
            </a:r>
            <a:endParaRPr/>
          </a:p>
        </p:txBody>
      </p:sp>
      <p:graphicFrame>
        <p:nvGraphicFramePr>
          <p:cNvPr id="142" name="Google Shape;142;p7"/>
          <p:cNvGraphicFramePr/>
          <p:nvPr/>
        </p:nvGraphicFramePr>
        <p:xfrm>
          <a:off x="1109339" y="23774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{92128CF8-3363-4F87-9B6B-7975B5D47504}</a:tableStyleId>
              </a:tblPr>
              <a:tblGrid>
                <a:gridCol w="208275"/>
                <a:gridCol w="1426225"/>
                <a:gridCol w="3815350"/>
                <a:gridCol w="1475725"/>
              </a:tblGrid>
              <a:tr h="624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6248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75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5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35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3500"/>
                    </a:p>
                  </a:txBody>
                  <a:tcPr marT="45725" marB="45725" marR="91450" marL="9145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3" name="Google Shape;143;p7"/>
          <p:cNvCxnSpPr/>
          <p:nvPr/>
        </p:nvCxnSpPr>
        <p:spPr>
          <a:xfrm>
            <a:off x="7448206" y="1346348"/>
            <a:ext cx="0" cy="197874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4" name="Google Shape;144;p7"/>
          <p:cNvSpPr/>
          <p:nvPr/>
        </p:nvSpPr>
        <p:spPr>
          <a:xfrm>
            <a:off x="6922494" y="2018053"/>
            <a:ext cx="471347" cy="52322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45" name="Google Shape;145;p7"/>
          <p:cNvCxnSpPr/>
          <p:nvPr/>
        </p:nvCxnSpPr>
        <p:spPr>
          <a:xfrm>
            <a:off x="7693919" y="3614098"/>
            <a:ext cx="622476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6" name="Google Shape;146;p7"/>
          <p:cNvSpPr/>
          <p:nvPr/>
        </p:nvSpPr>
        <p:spPr>
          <a:xfrm>
            <a:off x="7769481" y="3614098"/>
            <a:ext cx="525400" cy="52322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47" name="Google Shape;147;p7"/>
          <p:cNvGraphicFramePr/>
          <p:nvPr/>
        </p:nvGraphicFramePr>
        <p:xfrm>
          <a:off x="1109339" y="4432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{92128CF8-3363-4F87-9B6B-7975B5D47504}</a:tableStyleId>
              </a:tblPr>
              <a:tblGrid>
                <a:gridCol w="208275"/>
                <a:gridCol w="1426225"/>
                <a:gridCol w="3815350"/>
                <a:gridCol w="1475725"/>
              </a:tblGrid>
              <a:tr h="6366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1667375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Objectives of Experiment 1</a:t>
            </a:r>
            <a:endParaRPr/>
          </a:p>
        </p:txBody>
      </p:sp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Take a series of measurements using various measuring tools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Estimate the Random Error for Individual Measurements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Estimate the Random Error for Computed Quantities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Determine Sources of random and Systematic Errors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2014-10-10T16:30:34Z</dcterms:created>
  <dc:creator>fareed aboul-ela</dc:creator>
</cp:coreProperties>
</file>