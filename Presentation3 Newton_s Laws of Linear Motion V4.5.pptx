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257" r:id="rId4"/>
    <p:sldId id="270" r:id="rId5"/>
    <p:sldId id="277" r:id="rId6"/>
    <p:sldId id="271" r:id="rId7"/>
    <p:sldId id="273" r:id="rId8"/>
    <p:sldId id="275" r:id="rId9"/>
    <p:sldId id="272" r:id="rId10"/>
    <p:sldId id="261" r:id="rId11"/>
    <p:sldId id="260" r:id="rId1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799" autoAdjust="0"/>
  </p:normalViewPr>
  <p:slideViewPr>
    <p:cSldViewPr snapToGrid="0" snapToObjects="1">
      <p:cViewPr varScale="1">
        <p:scale>
          <a:sx n="85" d="100"/>
          <a:sy n="85" d="100"/>
        </p:scale>
        <p:origin x="96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E9B893B-7D4E-4D80-80E4-0AEC93FEC369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46F0F86C-71DC-4552-B508-758721D556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31230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Objectives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83EF38-B38F-4D89-B700-9EA7C81724B4}" type="slidenum">
              <a:rPr lang="en-US" altLang="en-US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487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We can use the second bullet point to initiate a discussion amongst the students:  Can an instrument reduce systematic error?  If so, in what cases?  Can an instrument reduce random error?  If so, when and how?</a:t>
            </a: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BF7C26-B401-4192-96C3-76D8E204F352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52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DC85556-39E0-4798-ABC9-8FA0823D6636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8795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DC85556-39E0-4798-ABC9-8FA0823D6636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2528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DC85556-39E0-4798-ABC9-8FA0823D6636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28316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DC85556-39E0-4798-ABC9-8FA0823D6636}" type="slidenum">
              <a:rPr lang="en-US" altLang="en-US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10815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smtClean="0"/>
              <a:t>Objectives</a:t>
            </a:r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83EF38-B38F-4D89-B700-9EA7C81724B4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400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44B58-8B34-4584-9748-3CDA8C6DAB9D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D98DC6-F15D-48BE-8485-325025E88C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402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5A46C-B2A5-466F-93CC-34A97AD2CA37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A7F839-A4CB-4AF9-9640-A662427F065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3746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42140E-F17B-4C41-9D80-7291EE18AE3C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6A1A70-BACF-4514-A16A-812EBCC950F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368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FE9DD4-DF67-4F7B-827A-BE184B448734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CB54B7-7677-4738-9D72-73ADC19DB0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1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DA4339-42DB-4F71-B023-6280852C50F9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C0BE3-8213-4123-9920-C36EEDFA0F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009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8FD24-E1DD-446B-A1AD-FD571ECCE125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5FF7A-68DE-4A38-B2CC-A585AAB183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0265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EE5972-AFF8-4630-A5B2-8D4E446EA0F3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A6C50E-2843-462E-92CC-9F284B84C45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961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4E1F3-73A4-416D-9B33-75947629A7A6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C3938A-F608-4E8D-AB79-7A8A65CAB8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48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5272A4-65CA-4835-83C2-AB65BDF4E03D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D76D36-4610-49EB-856F-7E067A7DBB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5916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92D961-D611-4655-AC9A-4843D80ADEAF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E3D4F-39B0-4DFB-BEAF-43DBB10E20A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48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A7E63-6921-43FD-A0AC-042928711CD4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E5D729-005D-4152-B097-6F1287A98B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149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  <a:endParaRPr lang="en-US" altLang="en-US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  <a:endParaRPr lang="en-US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AD3A7CA-F8F2-45E7-9FD7-4FF470FDD548}" type="datetimeFigureOut">
              <a:rPr lang="en-US"/>
              <a:pPr>
                <a:defRPr/>
              </a:pPr>
              <a:t>9/15/2019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F54DF54-CF39-4930-B7A9-8CECAF5FA5E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5" Type="http://schemas.openxmlformats.org/officeDocument/2006/relationships/image" Target="../media/image32.png"/><Relationship Id="rId2" Type="http://schemas.openxmlformats.org/officeDocument/2006/relationships/image" Target="../media/image8.png"/><Relationship Id="rId16" Type="http://schemas.openxmlformats.org/officeDocument/2006/relationships/image" Target="../media/image23.png"/><Relationship Id="rId20" Type="http://schemas.openxmlformats.org/officeDocument/2006/relationships/image" Target="../media/image26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5.png"/><Relationship Id="rId24" Type="http://schemas.openxmlformats.org/officeDocument/2006/relationships/image" Target="../media/image31.png"/><Relationship Id="rId5" Type="http://schemas.openxmlformats.org/officeDocument/2006/relationships/image" Target="../media/image11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4.png"/><Relationship Id="rId31" Type="http://schemas.openxmlformats.org/officeDocument/2006/relationships/image" Target="../media/image38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4.png"/><Relationship Id="rId30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hysics.umd.edu/courses/Phys111/goodman/java/phe/n2law.htm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 smtClean="0"/>
              <a:t>PHYS 111 Experiment 3</a:t>
            </a:r>
            <a:br>
              <a:rPr lang="en-US" altLang="en-US" sz="3600" dirty="0" smtClean="0"/>
            </a:br>
            <a:r>
              <a:rPr lang="en-US" altLang="en-US" dirty="0" smtClean="0"/>
              <a:t>Newton’s Laws of Linear Motion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44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Fall </a:t>
            </a:r>
            <a:r>
              <a:rPr lang="en-US" sz="440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2019</a:t>
            </a: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Objectives of Experiment 3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pPr algn="justLow" eaLnBrk="1" hangingPunct="1"/>
            <a:r>
              <a:rPr lang="en-US" altLang="en-US" dirty="0" smtClean="0"/>
              <a:t>Investigate the meaning of inertia and test Newton’s First Law of motion.</a:t>
            </a:r>
          </a:p>
          <a:p>
            <a:pPr algn="justLow" eaLnBrk="1" hangingPunct="1"/>
            <a:r>
              <a:rPr lang="en-US" altLang="en-US" dirty="0"/>
              <a:t>Determine the motion parameters (displacement , </a:t>
            </a:r>
            <a:r>
              <a:rPr lang="en-US" altLang="en-US" dirty="0" smtClean="0"/>
              <a:t>velocity, acceleration) </a:t>
            </a:r>
            <a:r>
              <a:rPr lang="en-US" altLang="en-US" dirty="0"/>
              <a:t>of a moving body as a function of time.</a:t>
            </a:r>
          </a:p>
          <a:p>
            <a:pPr algn="justLow" eaLnBrk="1" hangingPunct="1"/>
            <a:r>
              <a:rPr lang="en-US" altLang="en-US" dirty="0" smtClean="0"/>
              <a:t>Investigate and verify Newton's second law.</a:t>
            </a:r>
          </a:p>
        </p:txBody>
      </p:sp>
    </p:spTree>
    <p:extLst>
      <p:ext uri="{BB962C8B-B14F-4D97-AF65-F5344CB8AC3E}">
        <p14:creationId xmlns:p14="http://schemas.microsoft.com/office/powerpoint/2010/main" val="258513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 smtClean="0"/>
              <a:t>Newton’s Laws of Linear Motion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altLang="en-US" b="1" dirty="0" smtClean="0"/>
              <a:t>Foundation of Classical Mechanics.</a:t>
            </a:r>
          </a:p>
          <a:p>
            <a:pPr algn="just" eaLnBrk="1" hangingPunct="1"/>
            <a:endParaRPr lang="en-US" altLang="en-US" b="1" dirty="0" smtClean="0"/>
          </a:p>
          <a:p>
            <a:pPr algn="just" eaLnBrk="1" hangingPunct="1"/>
            <a:r>
              <a:rPr lang="en-US" altLang="en-US" b="1" dirty="0" smtClean="0"/>
              <a:t>Describe the relation between an object’s motion and the forces acting on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2673093" y="5099164"/>
            <a:ext cx="2579378" cy="1047403"/>
          </a:xfrm>
          <a:prstGeom prst="rect">
            <a:avLst/>
          </a:prstGeom>
          <a:gradFill flip="none" rotWithShape="1">
            <a:gsLst>
              <a:gs pos="21000">
                <a:schemeClr val="bg1">
                  <a:lumMod val="75000"/>
                </a:schemeClr>
              </a:gs>
              <a:gs pos="63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 smtClean="0"/>
              <a:t>Newton’s Laws of Linear Motion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7813" y="1600200"/>
            <a:ext cx="8408987" cy="482441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b="1" i="1" dirty="0">
                <a:solidFill>
                  <a:srgbClr val="FF0000"/>
                </a:solidFill>
              </a:rPr>
              <a:t>Newton's First Law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of motion </a:t>
            </a:r>
            <a:r>
              <a:rPr lang="en-US" dirty="0" smtClean="0"/>
              <a:t>states </a:t>
            </a:r>
            <a:r>
              <a:rPr lang="en-US" dirty="0"/>
              <a:t>that an object tends to stay </a:t>
            </a:r>
            <a:r>
              <a:rPr lang="en-US" dirty="0" smtClean="0"/>
              <a:t>in </a:t>
            </a:r>
            <a:r>
              <a:rPr lang="en-US" dirty="0"/>
              <a:t>its </a:t>
            </a:r>
            <a:r>
              <a:rPr lang="en-US" dirty="0" smtClean="0"/>
              <a:t>state of motion </a:t>
            </a:r>
            <a:r>
              <a:rPr lang="en-US" dirty="0"/>
              <a:t>as long as there is no net </a:t>
            </a:r>
            <a:r>
              <a:rPr lang="en-US" dirty="0" smtClean="0"/>
              <a:t>force </a:t>
            </a:r>
            <a:r>
              <a:rPr lang="en-US" dirty="0"/>
              <a:t>acting on it</a:t>
            </a:r>
            <a:r>
              <a:rPr lang="en-US" dirty="0" smtClean="0"/>
              <a:t>.</a:t>
            </a:r>
          </a:p>
          <a:p>
            <a:pPr lvl="1">
              <a:buFont typeface="Arial" charset="0"/>
              <a:buChar char="•"/>
              <a:defRPr/>
            </a:pPr>
            <a:r>
              <a:rPr lang="en-US" dirty="0" smtClean="0"/>
              <a:t>This </a:t>
            </a:r>
            <a:r>
              <a:rPr lang="en-US" dirty="0"/>
              <a:t>tendency of the object to stay in its state </a:t>
            </a:r>
            <a:r>
              <a:rPr lang="en-US" dirty="0" smtClean="0"/>
              <a:t>of motion is called </a:t>
            </a:r>
            <a:r>
              <a:rPr lang="en-US" dirty="0"/>
              <a:t>the </a:t>
            </a:r>
            <a:r>
              <a:rPr lang="en-US" b="1" i="1" u="sng" dirty="0" smtClean="0">
                <a:solidFill>
                  <a:srgbClr val="FF0000"/>
                </a:solidFill>
              </a:rPr>
              <a:t>Inertia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of the </a:t>
            </a:r>
            <a:r>
              <a:rPr lang="en-US" dirty="0" smtClean="0"/>
              <a:t>object.</a:t>
            </a:r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3366026" y="4438998"/>
            <a:ext cx="5158041" cy="2138221"/>
            <a:chOff x="3773978" y="4438998"/>
            <a:chExt cx="4465305" cy="2138221"/>
          </a:xfrm>
        </p:grpSpPr>
        <p:sp>
          <p:nvSpPr>
            <p:cNvPr id="2" name="Oval 1"/>
            <p:cNvSpPr/>
            <p:nvPr/>
          </p:nvSpPr>
          <p:spPr>
            <a:xfrm>
              <a:off x="4429415" y="5104015"/>
              <a:ext cx="957232" cy="1047403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ight Arrow 2"/>
            <p:cNvSpPr/>
            <p:nvPr/>
          </p:nvSpPr>
          <p:spPr>
            <a:xfrm>
              <a:off x="5669280" y="5309475"/>
              <a:ext cx="637728" cy="636481"/>
            </a:xfrm>
            <a:prstGeom prst="rightArrow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5017906" y="6053999"/>
                  <a:ext cx="322137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b="1" i="1" dirty="0" smtClean="0">
                      <a:solidFill>
                        <a:schemeClr val="accent3">
                          <a:lumMod val="50000"/>
                        </a:schemeClr>
                      </a:solidFill>
                    </a:rPr>
                    <a:t> = Constant, </a:t>
                  </a:r>
                  <a14:m>
                    <m:oMath xmlns:m="http://schemas.openxmlformats.org/officeDocument/2006/math"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sz="2800" b="1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800" b="1" i="1" dirty="0" smtClean="0">
                      <a:solidFill>
                        <a:schemeClr val="accent3">
                          <a:lumMod val="50000"/>
                        </a:schemeClr>
                      </a:solidFill>
                    </a:rPr>
                    <a:t>=0</a:t>
                  </a:r>
                  <a:endParaRPr lang="en-US" sz="2800" b="1" i="1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17906" y="6053999"/>
                  <a:ext cx="3221377" cy="52322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10465" r="-229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ight Arrow 5"/>
            <p:cNvSpPr/>
            <p:nvPr/>
          </p:nvSpPr>
          <p:spPr>
            <a:xfrm>
              <a:off x="3773978" y="4438998"/>
              <a:ext cx="2360815" cy="565266"/>
            </a:xfrm>
            <a:prstGeom prst="rightArrow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4339244" y="4664567"/>
              <a:ext cx="1014153" cy="133004"/>
              <a:chOff x="6716684" y="4405745"/>
              <a:chExt cx="1014153" cy="133004"/>
            </a:xfrm>
          </p:grpSpPr>
          <p:sp>
            <p:nvSpPr>
              <p:cNvPr id="7" name="Rectangle 6"/>
              <p:cNvSpPr/>
              <p:nvPr/>
            </p:nvSpPr>
            <p:spPr>
              <a:xfrm rot="2501955">
                <a:off x="6716684" y="4405745"/>
                <a:ext cx="1014152" cy="13300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/>
              <p:cNvSpPr/>
              <p:nvPr/>
            </p:nvSpPr>
            <p:spPr>
              <a:xfrm rot="19098045" flipH="1">
                <a:off x="6716685" y="4405745"/>
                <a:ext cx="1014152" cy="13300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134793" y="4460021"/>
                  <a:ext cx="171540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3200" b="1" i="1" baseline="-25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𝒏𝒆𝒕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3200" b="1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4793" y="4460021"/>
                  <a:ext cx="1715402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2238" y="1783833"/>
            <a:ext cx="7311108" cy="2488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u="sng" dirty="0" smtClean="0"/>
              <a:t>Newton's First Law Experiment Setup</a:t>
            </a:r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14675" y="4272334"/>
            <a:ext cx="291465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1367721" y="4343423"/>
            <a:ext cx="2733011" cy="1072383"/>
          </a:xfrm>
          <a:prstGeom prst="rect">
            <a:avLst/>
          </a:prstGeom>
          <a:gradFill flip="none" rotWithShape="1">
            <a:gsLst>
              <a:gs pos="21000">
                <a:schemeClr val="bg1">
                  <a:lumMod val="75000"/>
                </a:schemeClr>
              </a:gs>
              <a:gs pos="63000">
                <a:schemeClr val="bg1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 smtClean="0"/>
              <a:t>Newton’s Laws of Linear Motion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7813" y="1600200"/>
            <a:ext cx="8408987" cy="215715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b="1" i="1" dirty="0" smtClean="0">
                <a:solidFill>
                  <a:srgbClr val="FF0000"/>
                </a:solidFill>
              </a:rPr>
              <a:t>Newton's Second Law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of motion </a:t>
            </a:r>
            <a:r>
              <a:rPr lang="en-US" dirty="0" smtClean="0"/>
              <a:t>states that </a:t>
            </a:r>
            <a:r>
              <a:rPr lang="en-US" dirty="0"/>
              <a:t>as long as a net force </a:t>
            </a:r>
            <a:r>
              <a:rPr lang="en-US" dirty="0" smtClean="0"/>
              <a:t>acts </a:t>
            </a:r>
            <a:r>
              <a:rPr lang="en-US" dirty="0"/>
              <a:t>on an object, its </a:t>
            </a:r>
            <a:r>
              <a:rPr lang="en-US" dirty="0" smtClean="0"/>
              <a:t>velocity accelerates in the direction of the net force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175210" y="3678406"/>
            <a:ext cx="5339495" cy="2440277"/>
            <a:chOff x="2175210" y="3678406"/>
            <a:chExt cx="4614191" cy="2440277"/>
          </a:xfrm>
        </p:grpSpPr>
        <p:sp>
          <p:nvSpPr>
            <p:cNvPr id="16" name="Oval 15"/>
            <p:cNvSpPr/>
            <p:nvPr/>
          </p:nvSpPr>
          <p:spPr>
            <a:xfrm>
              <a:off x="2830669" y="4343423"/>
              <a:ext cx="889152" cy="1047403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endPara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075709" y="5207921"/>
                  <a:ext cx="3713692" cy="9107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1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sz="2800" b="1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1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  <m:r>
                          <a:rPr lang="en-US" sz="2800" b="1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</m:t>
                            </m:r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800" b="1" i="1" dirty="0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𝒅𝒕</m:t>
                            </m:r>
                          </m:den>
                        </m:f>
                      </m:oMath>
                    </m:oMathPara>
                  </a14:m>
                  <a:endParaRPr lang="en-US" sz="2800" b="1" i="1" dirty="0">
                    <a:solidFill>
                      <a:schemeClr val="accent3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709" y="5207921"/>
                  <a:ext cx="3713692" cy="91076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ight Arrow 18"/>
            <p:cNvSpPr/>
            <p:nvPr/>
          </p:nvSpPr>
          <p:spPr>
            <a:xfrm>
              <a:off x="2175210" y="3678406"/>
              <a:ext cx="2360815" cy="565266"/>
            </a:xfrm>
            <a:prstGeom prst="rightArrow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4536024" y="3699429"/>
                  <a:ext cx="225337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  <m:r>
                          <a:rPr lang="en-US" sz="3200" b="1" i="1" baseline="-25000" dirty="0" err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𝒏𝒆𝒕</m:t>
                        </m:r>
                        <m:r>
                          <a:rPr lang="en-US" sz="3200" b="1" i="1" baseline="-2500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𝑴𝒂</m:t>
                        </m:r>
                      </m:oMath>
                    </m:oMathPara>
                  </a14:m>
                  <a:endParaRPr lang="en-US" sz="3200" b="1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6024" y="3699429"/>
                  <a:ext cx="2253377" cy="58477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4045743" y="4548883"/>
            <a:ext cx="1300225" cy="636481"/>
            <a:chOff x="4045743" y="4548883"/>
            <a:chExt cx="1300225" cy="636481"/>
          </a:xfrm>
        </p:grpSpPr>
        <p:sp>
          <p:nvSpPr>
            <p:cNvPr id="17" name="Right Arrow 16"/>
            <p:cNvSpPr/>
            <p:nvPr/>
          </p:nvSpPr>
          <p:spPr>
            <a:xfrm>
              <a:off x="4708240" y="4548883"/>
              <a:ext cx="637728" cy="636481"/>
            </a:xfrm>
            <a:prstGeom prst="rightArrow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403726" y="4707731"/>
              <a:ext cx="232756" cy="319088"/>
            </a:xfrm>
            <a:prstGeom prst="rect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83857" y="4707731"/>
              <a:ext cx="148112" cy="319088"/>
            </a:xfrm>
            <a:prstGeom prst="rect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045743" y="4707731"/>
              <a:ext cx="66355" cy="319088"/>
            </a:xfrm>
            <a:prstGeom prst="rect">
              <a:avLst/>
            </a:prstGeom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328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34" y="1923998"/>
            <a:ext cx="8351132" cy="3931920"/>
          </a:xfrm>
          <a:prstGeom prst="rect">
            <a:avLst/>
          </a:prstGeom>
        </p:spPr>
      </p:pic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 smtClean="0"/>
              <a:t>Newton’s second Law of Linear Motion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77813" y="1600200"/>
            <a:ext cx="8408987" cy="215715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 smtClean="0"/>
              <a:t>Example: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96434" y="5534280"/>
                <a:ext cx="6355905" cy="972254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sz="2800" b="0" i="1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tx2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for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tx2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34" y="5534280"/>
                <a:ext cx="6355905" cy="972254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55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flipH="1">
            <a:off x="3250424" y="875762"/>
            <a:ext cx="7932" cy="43612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6181859" y="875761"/>
            <a:ext cx="31911" cy="43612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496332" y="1827212"/>
            <a:ext cx="1112761" cy="1588"/>
          </a:xfrm>
          <a:prstGeom prst="straightConnector1">
            <a:avLst/>
          </a:prstGeom>
          <a:ln w="28575">
            <a:solidFill>
              <a:schemeClr val="tx2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6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72226" y="3867958"/>
            <a:ext cx="1485343" cy="599130"/>
          </a:xfrm>
          <a:prstGeom prst="rect">
            <a:avLst/>
          </a:prstGeom>
          <a:noFill/>
        </p:spPr>
      </p:pic>
      <p:sp>
        <p:nvSpPr>
          <p:cNvPr id="1037" name="Rectangle 13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39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0" y="914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5" name="Rectangle 2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6" name="Rectangle 22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48" name="Rectangle 2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49" name="Rectangle 25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1" name="Rectangle 2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52" name="Rectangle 28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54" name="Rectangle 30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55" name="Rectangle 31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508679" y="3886874"/>
            <a:ext cx="28848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i="1" dirty="0" smtClean="0">
                <a:solidFill>
                  <a:srgbClr val="FF0000"/>
                </a:solidFill>
              </a:rPr>
              <a:t>Our pulley has negligible mass</a:t>
            </a:r>
            <a:endParaRPr lang="en-US" sz="1400" b="1" i="1" dirty="0">
              <a:solidFill>
                <a:srgbClr val="FF0000"/>
              </a:solidFill>
            </a:endParaRPr>
          </a:p>
        </p:txBody>
      </p:sp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40678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58" name="Rectangle 34"/>
          <p:cNvSpPr>
            <a:spLocks noChangeArrowheads="1"/>
          </p:cNvSpPr>
          <p:nvPr/>
        </p:nvSpPr>
        <p:spPr bwMode="auto">
          <a:xfrm>
            <a:off x="0" y="7334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62" name="Rectangle 3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64" name="Rectangle 4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66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68" name="Rectangle 4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4" name="Rectangle 5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6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78" name="Rectangle 5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0" name="Rectangle 5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2" name="Rectangle 5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4" name="Rectangle 6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112" name="Group 111"/>
          <p:cNvGrpSpPr/>
          <p:nvPr/>
        </p:nvGrpSpPr>
        <p:grpSpPr>
          <a:xfrm>
            <a:off x="436382" y="1266556"/>
            <a:ext cx="2626212" cy="2285523"/>
            <a:chOff x="331028" y="1326647"/>
            <a:chExt cx="2626212" cy="2285523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31028" y="1467655"/>
              <a:ext cx="2428875" cy="12954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cxnSp>
          <p:nvCxnSpPr>
            <p:cNvPr id="9" name="Straight Arrow Connector 8"/>
            <p:cNvCxnSpPr/>
            <p:nvPr/>
          </p:nvCxnSpPr>
          <p:spPr>
            <a:xfrm rot="16200000" flipH="1">
              <a:off x="870912" y="2930711"/>
              <a:ext cx="1249252" cy="158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1494744" y="2318994"/>
              <a:ext cx="1112761" cy="158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5400000">
              <a:off x="1052805" y="2762261"/>
              <a:ext cx="888642" cy="1588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rot="5400000" flipH="1" flipV="1">
              <a:off x="1072251" y="1894119"/>
              <a:ext cx="852927" cy="1588"/>
            </a:xfrm>
            <a:prstGeom prst="straightConnector1">
              <a:avLst/>
            </a:prstGeom>
            <a:ln w="28575"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ight Arrow 19"/>
            <p:cNvSpPr/>
            <p:nvPr/>
          </p:nvSpPr>
          <p:spPr>
            <a:xfrm>
              <a:off x="1805701" y="1326647"/>
              <a:ext cx="801803" cy="283603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73" name="Picture 49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636658" y="2897689"/>
              <a:ext cx="506220" cy="358058"/>
            </a:xfrm>
            <a:prstGeom prst="rect">
              <a:avLst/>
            </a:prstGeom>
            <a:noFill/>
          </p:spPr>
        </p:pic>
        <p:pic>
          <p:nvPicPr>
            <p:cNvPr id="1075" name="Picture 51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645603" y="2266037"/>
              <a:ext cx="114300" cy="276225"/>
            </a:xfrm>
            <a:prstGeom prst="rect">
              <a:avLst/>
            </a:prstGeom>
            <a:noFill/>
          </p:spPr>
        </p:pic>
        <p:pic>
          <p:nvPicPr>
            <p:cNvPr id="1077" name="Picture 53"/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269122" y="3335945"/>
              <a:ext cx="114300" cy="276225"/>
            </a:xfrm>
            <a:prstGeom prst="rect">
              <a:avLst/>
            </a:prstGeom>
            <a:noFill/>
          </p:spPr>
        </p:pic>
        <p:pic>
          <p:nvPicPr>
            <p:cNvPr id="1079" name="Picture 55"/>
            <p:cNvPicPr>
              <a:picLocks noChangeAspect="1" noChangeArrowheads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128033" y="1377028"/>
              <a:ext cx="209096" cy="466444"/>
            </a:xfrm>
            <a:prstGeom prst="rect">
              <a:avLst/>
            </a:prstGeom>
            <a:noFill/>
          </p:spPr>
        </p:pic>
        <p:pic>
          <p:nvPicPr>
            <p:cNvPr id="1081" name="Picture 57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2695916" y="1589526"/>
              <a:ext cx="261324" cy="378920"/>
            </a:xfrm>
            <a:prstGeom prst="rect">
              <a:avLst/>
            </a:prstGeom>
            <a:noFill/>
          </p:spPr>
        </p:pic>
      </p:grpSp>
      <p:sp>
        <p:nvSpPr>
          <p:cNvPr id="1086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88" name="Rectangle 6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0" name="Rectangle 6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2" name="Rectangle 6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94" name="Rectangle 7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6" name="Title 1"/>
          <p:cNvSpPr>
            <a:spLocks noGrp="1"/>
          </p:cNvSpPr>
          <p:nvPr>
            <p:ph type="title"/>
          </p:nvPr>
        </p:nvSpPr>
        <p:spPr>
          <a:xfrm>
            <a:off x="933696" y="40678"/>
            <a:ext cx="7411792" cy="458787"/>
          </a:xfrm>
        </p:spPr>
        <p:txBody>
          <a:bodyPr/>
          <a:lstStyle/>
          <a:p>
            <a:pPr eaLnBrk="1" hangingPunct="1"/>
            <a:r>
              <a:rPr lang="en-US" altLang="en-US" sz="3200" u="sng" dirty="0" smtClean="0"/>
              <a:t>Free-body Diagrams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04702" y="4657814"/>
                <a:ext cx="12277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02" y="4657814"/>
                <a:ext cx="1227708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3980" r="-248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931254" y="653748"/>
                <a:ext cx="63395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254" y="653748"/>
                <a:ext cx="633956" cy="52322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3725920" y="1047423"/>
            <a:ext cx="1996835" cy="2819531"/>
            <a:chOff x="3725920" y="1047423"/>
            <a:chExt cx="1996835" cy="2819531"/>
          </a:xfrm>
        </p:grpSpPr>
        <p:grpSp>
          <p:nvGrpSpPr>
            <p:cNvPr id="88" name="Group 87"/>
            <p:cNvGrpSpPr/>
            <p:nvPr/>
          </p:nvGrpSpPr>
          <p:grpSpPr>
            <a:xfrm>
              <a:off x="3915564" y="1047423"/>
              <a:ext cx="1804911" cy="2422930"/>
              <a:chOff x="3995738" y="1086655"/>
              <a:chExt cx="1804911" cy="242293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11"/>
              <a:srcRect/>
              <a:stretch>
                <a:fillRect/>
              </a:stretch>
            </p:blipFill>
            <p:spPr bwMode="auto">
              <a:xfrm>
                <a:off x="3995738" y="1086655"/>
                <a:ext cx="1152525" cy="16764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cxnSp>
            <p:nvCxnSpPr>
              <p:cNvPr id="33" name="Straight Arrow Connector 32"/>
              <p:cNvCxnSpPr/>
              <p:nvPr/>
            </p:nvCxnSpPr>
            <p:spPr>
              <a:xfrm>
                <a:off x="4573588" y="2131845"/>
                <a:ext cx="1112761" cy="158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65" name="Picture 41"/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5091113" y="1610250"/>
                <a:ext cx="114300" cy="276225"/>
              </a:xfrm>
              <a:prstGeom prst="rect">
                <a:avLst/>
              </a:prstGeom>
              <a:noFill/>
            </p:spPr>
          </p:pic>
          <p:pic>
            <p:nvPicPr>
              <p:cNvPr id="1067" name="Picture 43"/>
              <p:cNvPicPr>
                <a:picLocks noChangeAspect="1" noChangeArrowheads="1"/>
              </p:cNvPicPr>
              <p:nvPr/>
            </p:nvPicPr>
            <p:blipFill>
              <a:blip r:embed="rId1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081154" y="1610250"/>
                <a:ext cx="114300" cy="276225"/>
              </a:xfrm>
              <a:prstGeom prst="rect">
                <a:avLst/>
              </a:prstGeom>
              <a:noFill/>
            </p:spPr>
          </p:pic>
          <p:pic>
            <p:nvPicPr>
              <p:cNvPr id="1069" name="Picture 45"/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5686349" y="1993731"/>
                <a:ext cx="114300" cy="276225"/>
              </a:xfrm>
              <a:prstGeom prst="rect">
                <a:avLst/>
              </a:prstGeom>
              <a:noFill/>
            </p:spPr>
          </p:pic>
          <p:pic>
            <p:nvPicPr>
              <p:cNvPr id="1071" name="Picture 47"/>
              <p:cNvPicPr>
                <a:picLocks noChangeAspect="1" noChangeArrowheads="1"/>
              </p:cNvPicPr>
              <p:nvPr/>
            </p:nvPicPr>
            <p:blipFill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4667351" y="3110912"/>
                <a:ext cx="114300" cy="276225"/>
              </a:xfrm>
              <a:prstGeom prst="rect">
                <a:avLst/>
              </a:prstGeom>
              <a:noFill/>
            </p:spPr>
          </p:pic>
          <p:cxnSp>
            <p:nvCxnSpPr>
              <p:cNvPr id="34" name="Straight Arrow Connector 33"/>
              <p:cNvCxnSpPr/>
              <p:nvPr/>
            </p:nvCxnSpPr>
            <p:spPr>
              <a:xfrm flipH="1">
                <a:off x="4549776" y="2138913"/>
                <a:ext cx="23906" cy="137067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5" name="Group 114"/>
            <p:cNvGrpSpPr/>
            <p:nvPr/>
          </p:nvGrpSpPr>
          <p:grpSpPr>
            <a:xfrm>
              <a:off x="3725920" y="2122915"/>
              <a:ext cx="1508795" cy="1744039"/>
              <a:chOff x="6818480" y="928687"/>
              <a:chExt cx="1508795" cy="1744039"/>
            </a:xfrm>
          </p:grpSpPr>
          <p:pic>
            <p:nvPicPr>
              <p:cNvPr id="1028" name="Picture 4"/>
              <p:cNvPicPr>
                <a:picLocks noChangeAspect="1" noChangeArrowheads="1"/>
              </p:cNvPicPr>
              <p:nvPr/>
            </p:nvPicPr>
            <p:blipFill>
              <a:blip r:embed="rId1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818480" y="1138985"/>
                <a:ext cx="1228725" cy="96202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32" name="Right Arrow 31"/>
              <p:cNvSpPr/>
              <p:nvPr/>
            </p:nvSpPr>
            <p:spPr>
              <a:xfrm rot="5400000">
                <a:off x="7784572" y="1689425"/>
                <a:ext cx="801803" cy="283603"/>
              </a:xfrm>
              <a:prstGeom prst="rightArrow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91" name="Picture 67"/>
              <p:cNvPicPr>
                <a:picLocks noChangeAspect="1" noChangeArrowheads="1"/>
              </p:cNvPicPr>
              <p:nvPr/>
            </p:nvPicPr>
            <p:blipFill>
              <a:blip r:embed="rId1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/>
              <a:stretch>
                <a:fillRect/>
              </a:stretch>
            </p:blipFill>
            <p:spPr bwMode="auto">
              <a:xfrm>
                <a:off x="6975071" y="2328492"/>
                <a:ext cx="486676" cy="344234"/>
              </a:xfrm>
              <a:prstGeom prst="rect">
                <a:avLst/>
              </a:prstGeom>
              <a:noFill/>
            </p:spPr>
          </p:pic>
          <p:cxnSp>
            <p:nvCxnSpPr>
              <p:cNvPr id="28" name="Straight Arrow Connector 27"/>
              <p:cNvCxnSpPr/>
              <p:nvPr/>
            </p:nvCxnSpPr>
            <p:spPr>
              <a:xfrm flipH="1">
                <a:off x="7563085" y="928687"/>
                <a:ext cx="14763" cy="1670742"/>
              </a:xfrm>
              <a:prstGeom prst="straightConnector1">
                <a:avLst/>
              </a:prstGeom>
              <a:ln w="28575">
                <a:solidFill>
                  <a:schemeClr val="tx2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Rectangle 94"/>
                <p:cNvSpPr/>
                <p:nvPr/>
              </p:nvSpPr>
              <p:spPr>
                <a:xfrm>
                  <a:off x="5097071" y="2761353"/>
                  <a:ext cx="62568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5" name="Rectangle 9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7071" y="2761353"/>
                  <a:ext cx="625684" cy="523220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3611476" y="4411941"/>
                <a:ext cx="21547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476" y="4411941"/>
                <a:ext cx="2154757" cy="307777"/>
              </a:xfrm>
              <a:prstGeom prst="rect">
                <a:avLst/>
              </a:prstGeom>
              <a:blipFill rotWithShape="0">
                <a:blip r:embed="rId16"/>
                <a:stretch>
                  <a:fillRect l="-1130" r="-565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7"/>
          <a:srcRect t="9494" b="15413"/>
          <a:stretch/>
        </p:blipFill>
        <p:spPr>
          <a:xfrm rot="5400000" flipH="1">
            <a:off x="2604238" y="1660208"/>
            <a:ext cx="201159" cy="207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6308980" y="829368"/>
                <a:ext cx="25846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i="1" dirty="0" smtClean="0">
                    <a:solidFill>
                      <a:srgbClr val="FF0000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 smtClean="0">
                    <a:solidFill>
                      <a:srgbClr val="FF0000"/>
                    </a:solidFill>
                  </a:rPr>
                  <a:t> moves to the right a distance d, then in the same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i="1" dirty="0" smtClean="0">
                    <a:solidFill>
                      <a:srgbClr val="FF0000"/>
                    </a:solidFill>
                  </a:rPr>
                  <a:t> moves downward a distance d/2</a:t>
                </a:r>
                <a:endParaRPr lang="en-US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8980" y="829368"/>
                <a:ext cx="2584695" cy="1200329"/>
              </a:xfrm>
              <a:prstGeom prst="rect">
                <a:avLst/>
              </a:prstGeom>
              <a:blipFill rotWithShape="0">
                <a:blip r:embed="rId18"/>
                <a:stretch>
                  <a:fillRect l="-2123" t="-2538" r="-1887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Picture 26"/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46117" y="2040741"/>
            <a:ext cx="2018230" cy="546604"/>
          </a:xfrm>
          <a:prstGeom prst="rect">
            <a:avLst/>
          </a:prstGeom>
          <a:noFill/>
        </p:spPr>
      </p:pic>
      <p:pic>
        <p:nvPicPr>
          <p:cNvPr id="102" name="Picture 29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55642" y="2564162"/>
            <a:ext cx="2008705" cy="546873"/>
          </a:xfrm>
          <a:prstGeom prst="rect">
            <a:avLst/>
          </a:prstGeom>
          <a:noFill/>
        </p:spPr>
      </p:pic>
      <p:pic>
        <p:nvPicPr>
          <p:cNvPr id="103" name="Picture 32"/>
          <p:cNvPicPr>
            <a:picLocks noChangeAspect="1" noChangeArrowheads="1"/>
          </p:cNvPicPr>
          <p:nvPr/>
        </p:nvPicPr>
        <p:blipFill>
          <a:blip r:embed="rId2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93545" y="3338470"/>
            <a:ext cx="600075" cy="542925"/>
          </a:xfrm>
          <a:prstGeom prst="rect">
            <a:avLst/>
          </a:prstGeom>
          <a:noFill/>
        </p:spPr>
      </p:pic>
      <p:sp>
        <p:nvSpPr>
          <p:cNvPr id="104" name="Right Arrow 103"/>
          <p:cNvSpPr/>
          <p:nvPr/>
        </p:nvSpPr>
        <p:spPr>
          <a:xfrm flipV="1">
            <a:off x="7206884" y="3493188"/>
            <a:ext cx="388953" cy="21029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5" name="Picture 34"/>
          <p:cNvPicPr>
            <a:picLocks noChangeAspect="1" noChangeArrowheads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866891" y="3440672"/>
            <a:ext cx="957194" cy="338520"/>
          </a:xfrm>
          <a:prstGeom prst="rect">
            <a:avLst/>
          </a:prstGeom>
          <a:noFill/>
        </p:spPr>
      </p:pic>
      <p:cxnSp>
        <p:nvCxnSpPr>
          <p:cNvPr id="109" name="Straight Connector 108"/>
          <p:cNvCxnSpPr/>
          <p:nvPr/>
        </p:nvCxnSpPr>
        <p:spPr>
          <a:xfrm rot="5400000">
            <a:off x="6833578" y="2159627"/>
            <a:ext cx="390786" cy="3894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 rot="5400000">
            <a:off x="6871036" y="2659010"/>
            <a:ext cx="390786" cy="38945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806490" y="4659602"/>
                <a:ext cx="122770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90" y="4659602"/>
                <a:ext cx="1227708" cy="307777"/>
              </a:xfrm>
              <a:prstGeom prst="rect">
                <a:avLst/>
              </a:prstGeom>
              <a:blipFill rotWithShape="0">
                <a:blip r:embed="rId23"/>
                <a:stretch>
                  <a:fillRect l="-3960" r="-1980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6393587" y="1882160"/>
                <a:ext cx="2454967" cy="525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3587" y="1882160"/>
                <a:ext cx="2454967" cy="525080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3610807" y="4411869"/>
                <a:ext cx="215475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807" y="4411869"/>
                <a:ext cx="2154757" cy="307777"/>
              </a:xfrm>
              <a:prstGeom prst="rect">
                <a:avLst/>
              </a:prstGeom>
              <a:blipFill rotWithShape="0">
                <a:blip r:embed="rId25"/>
                <a:stretch>
                  <a:fillRect l="-1130" r="-565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/>
              <p:cNvSpPr txBox="1"/>
              <p:nvPr/>
            </p:nvSpPr>
            <p:spPr>
              <a:xfrm>
                <a:off x="6263415" y="3058885"/>
                <a:ext cx="2868606" cy="4988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−2(</m:t>
                      </m:r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sz="19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120" name="TextBox 1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3415" y="3058885"/>
                <a:ext cx="2868606" cy="498855"/>
              </a:xfrm>
              <a:prstGeom prst="rect">
                <a:avLst/>
              </a:prstGeom>
              <a:blipFill rotWithShape="0"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6628326" y="4787536"/>
                <a:ext cx="2097049" cy="6328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(4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326" y="4787536"/>
                <a:ext cx="2097049" cy="632802"/>
              </a:xfrm>
              <a:prstGeom prst="rect">
                <a:avLst/>
              </a:prstGeom>
              <a:blipFill rotWithShape="0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6335839" y="3772747"/>
                <a:ext cx="2723758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−4(</m:t>
                      </m:r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839" y="3772747"/>
                <a:ext cx="2723758" cy="292388"/>
              </a:xfrm>
              <a:prstGeom prst="rect">
                <a:avLst/>
              </a:prstGeom>
              <a:blipFill rotWithShape="0">
                <a:blip r:embed="rId28"/>
                <a:stretch>
                  <a:fillRect l="-1790" t="-2083" r="-447" b="-35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TextBox 123"/>
              <p:cNvSpPr txBox="1"/>
              <p:nvPr/>
            </p:nvSpPr>
            <p:spPr>
              <a:xfrm>
                <a:off x="6460200" y="4280142"/>
                <a:ext cx="2475037" cy="292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9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9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19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124" name="TextBox 1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200" y="4280142"/>
                <a:ext cx="2475037" cy="292388"/>
              </a:xfrm>
              <a:prstGeom prst="rect">
                <a:avLst/>
              </a:prstGeom>
              <a:blipFill rotWithShape="0">
                <a:blip r:embed="rId29"/>
                <a:stretch>
                  <a:fillRect l="-985" r="-1970" b="-22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0" name="Group 129"/>
          <p:cNvGrpSpPr/>
          <p:nvPr/>
        </p:nvGrpSpPr>
        <p:grpSpPr>
          <a:xfrm>
            <a:off x="1320945" y="5651429"/>
            <a:ext cx="6355905" cy="972254"/>
            <a:chOff x="396434" y="5534280"/>
            <a:chExt cx="6355905" cy="972254"/>
          </a:xfrm>
        </p:grpSpPr>
        <p:sp>
          <p:nvSpPr>
            <p:cNvPr id="131" name="Rectangle 130"/>
            <p:cNvSpPr>
              <a:spLocks noRot="1" noChangeAspect="1" noMove="1" noResize="1" noEditPoints="1" noAdjustHandles="1" noChangeArrowheads="1" noChangeShapeType="1" noTextEdit="1"/>
            </p:cNvSpPr>
            <p:nvPr/>
          </p:nvSpPr>
          <p:spPr>
            <a:xfrm>
              <a:off x="396434" y="5534280"/>
              <a:ext cx="6355905" cy="972254"/>
            </a:xfrm>
            <a:prstGeom prst="rect">
              <a:avLst/>
            </a:prstGeom>
            <a:blipFill rotWithShape="0">
              <a:blip r:embed="rId30"/>
              <a:stretch>
                <a:fillRect/>
              </a:stretch>
            </a:blipFill>
            <a:ln>
              <a:solidFill>
                <a:srgbClr val="FF0000"/>
              </a:solidFill>
            </a:ln>
          </p:spPr>
          <p:txBody>
            <a:bodyPr/>
            <a:lstStyle/>
            <a:p>
              <a:pPr algn="ctr"/>
              <a:r>
                <a:rPr lang="en-US">
                  <a:noFill/>
                </a:rPr>
                <a:t> </a:t>
              </a:r>
            </a:p>
          </p:txBody>
        </p:sp>
        <p:pic>
          <p:nvPicPr>
            <p:cNvPr id="132" name="Picture 24"/>
            <p:cNvPicPr>
              <a:picLocks noChangeAspect="1" noChangeArrowheads="1"/>
            </p:cNvPicPr>
            <p:nvPr/>
          </p:nvPicPr>
          <p:blipFill>
            <a:blip r:embed="rId3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 bwMode="auto">
            <a:xfrm>
              <a:off x="1031180" y="6053070"/>
              <a:ext cx="114300" cy="276225"/>
            </a:xfrm>
            <a:prstGeom prst="rect">
              <a:avLst/>
            </a:prstGeom>
            <a:noFill/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1.11111E-6 L -0.09357 -0.38009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88" y="-19005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7.40741E-7 L 0.32032 -0.44282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007" y="-221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0.67552 -0.31412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67" y="-1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2"/>
      <p:bldP spid="2" grpId="0"/>
      <p:bldP spid="96" grpId="0"/>
      <p:bldP spid="100" grpId="0"/>
      <p:bldP spid="100" grpId="1"/>
      <p:bldP spid="104" grpId="0" animBg="1"/>
      <p:bldP spid="104" grpId="1" animBg="1"/>
      <p:bldP spid="117" grpId="0"/>
      <p:bldP spid="117" grpId="1"/>
      <p:bldP spid="118" grpId="0"/>
      <p:bldP spid="119" grpId="0"/>
      <p:bldP spid="119" grpId="1"/>
      <p:bldP spid="120" grpId="0"/>
      <p:bldP spid="122" grpId="0"/>
      <p:bldP spid="123" grpId="0"/>
      <p:bldP spid="1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u="sng" dirty="0" smtClean="0"/>
              <a:t>Newton’s Laws of Linear Motion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dirty="0" smtClean="0"/>
              <a:t>In this experiment, you will use </a:t>
            </a:r>
            <a:r>
              <a:rPr lang="en-US" b="1" i="1" dirty="0" smtClean="0">
                <a:solidFill>
                  <a:srgbClr val="C00000"/>
                </a:solidFill>
              </a:rPr>
              <a:t>Cobra 4</a:t>
            </a:r>
            <a:r>
              <a:rPr lang="en-US" b="1" dirty="0" smtClean="0"/>
              <a:t> </a:t>
            </a:r>
            <a:r>
              <a:rPr lang="en-US" dirty="0" smtClean="0"/>
              <a:t>sensors, interface, and “Measure” software to collect the data.</a:t>
            </a: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half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459"/>
          <a:stretch/>
        </p:blipFill>
        <p:spPr>
          <a:xfrm>
            <a:off x="763605" y="3323492"/>
            <a:ext cx="2997270" cy="339319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140" y="2890382"/>
            <a:ext cx="3643512" cy="2145098"/>
          </a:xfrm>
          <a:prstGeom prst="rect">
            <a:avLst/>
          </a:prstGeom>
        </p:spPr>
      </p:pic>
      <p:pic>
        <p:nvPicPr>
          <p:cNvPr id="13" name="Picture 2" descr="https://c2.staticflickr.com/6/5039/6898139664_1da8b3f82e_z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CFCFC"/>
              </a:clrFrom>
              <a:clrTo>
                <a:srgbClr val="FCFCFC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724992" y="4747541"/>
            <a:ext cx="3643512" cy="1969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99432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Useful links: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altLang="en-US" sz="2400" u="sng" dirty="0"/>
              <a:t>Newton’s Laws of Linear </a:t>
            </a:r>
            <a:r>
              <a:rPr lang="en-US" altLang="en-US" sz="2400" u="sng" dirty="0" smtClean="0"/>
              <a:t>Motion</a:t>
            </a:r>
          </a:p>
          <a:p>
            <a:pPr marL="0" indent="0" eaLnBrk="1" fontAlgn="auto" hangingPunct="1">
              <a:spcAft>
                <a:spcPts val="0"/>
              </a:spcAft>
              <a:buNone/>
              <a:defRPr/>
            </a:pPr>
            <a:r>
              <a:rPr lang="en-US" sz="2400" dirty="0" smtClean="0"/>
              <a:t>      https</a:t>
            </a:r>
            <a:r>
              <a:rPr lang="en-US" sz="2400" dirty="0"/>
              <a:t>://www.youtube.com/watch?v=iH48Lc7wq0U</a:t>
            </a:r>
            <a:endParaRPr lang="en-US" sz="2400" dirty="0" smtClean="0"/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400" dirty="0"/>
          </a:p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r>
              <a:rPr lang="en-US" sz="2400" u="sng" dirty="0" smtClean="0"/>
              <a:t>Constant acceleration motion</a:t>
            </a:r>
          </a:p>
          <a:p>
            <a:pPr marL="0" indent="0" eaLnBrk="1" fontAlgn="auto" hangingPunct="1">
              <a:spcAft>
                <a:spcPts val="0"/>
              </a:spcAft>
              <a:buFont typeface="Arial"/>
              <a:buNone/>
              <a:defRPr/>
            </a:pPr>
            <a:r>
              <a:rPr lang="en-US" sz="2400" dirty="0" smtClean="0">
                <a:hlinkClick r:id="rId2"/>
              </a:rPr>
              <a:t>http</a:t>
            </a:r>
            <a:r>
              <a:rPr lang="en-US" sz="2400" dirty="0">
                <a:hlinkClick r:id="rId2"/>
              </a:rPr>
              <a:t>://</a:t>
            </a:r>
            <a:r>
              <a:rPr lang="en-US" sz="2400" dirty="0" smtClean="0">
                <a:hlinkClick r:id="rId2"/>
              </a:rPr>
              <a:t>www.physics.umd.edu/courses/Phys111/goodman/java/phe/n2law.htm</a:t>
            </a:r>
            <a:endParaRPr lang="en-US" sz="2400" dirty="0" smtClean="0"/>
          </a:p>
          <a:p>
            <a:pPr marL="0" indent="0" eaLnBrk="1" fontAlgn="auto" hangingPunct="1">
              <a:spcAft>
                <a:spcPts val="0"/>
              </a:spcAft>
              <a:buFont typeface="Arial"/>
              <a:buNone/>
              <a:defRPr/>
            </a:pPr>
            <a:endParaRPr lang="en-US" sz="2400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 smtClean="0"/>
              <a:t>Objectives of Experiment 3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 eaLnBrk="1" hangingPunct="1"/>
            <a:r>
              <a:rPr lang="en-US" altLang="en-US" dirty="0" smtClean="0"/>
              <a:t>Investigate the meaning of inertia </a:t>
            </a:r>
            <a:r>
              <a:rPr lang="en-US" altLang="en-US" smtClean="0"/>
              <a:t>and test Newton’s </a:t>
            </a:r>
            <a:r>
              <a:rPr lang="en-US" altLang="en-US" dirty="0" smtClean="0"/>
              <a:t>First Law of motion.</a:t>
            </a:r>
          </a:p>
          <a:p>
            <a:pPr algn="justLow" eaLnBrk="1" hangingPunct="1"/>
            <a:r>
              <a:rPr lang="en-US" altLang="en-US" dirty="0"/>
              <a:t>Determine the motion parameters </a:t>
            </a:r>
            <a:r>
              <a:rPr lang="en-US" altLang="en-US" dirty="0" smtClean="0"/>
              <a:t>(d, v, a) </a:t>
            </a:r>
            <a:r>
              <a:rPr lang="en-US" altLang="en-US" dirty="0"/>
              <a:t>of a moving body as a function of time.</a:t>
            </a:r>
          </a:p>
          <a:p>
            <a:pPr algn="justLow" eaLnBrk="1" hangingPunct="1"/>
            <a:r>
              <a:rPr lang="en-US" altLang="en-US" dirty="0" smtClean="0"/>
              <a:t>Investigate and verify Newton's second law.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1724</TotalTime>
  <Words>362</Words>
  <Application>Microsoft Office PowerPoint</Application>
  <PresentationFormat>On-screen Show (4:3)</PresentationFormat>
  <Paragraphs>61</Paragraphs>
  <Slides>11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Times New Roman</vt:lpstr>
      <vt:lpstr>Office Theme</vt:lpstr>
      <vt:lpstr>PHYS 111 Experiment 3 Newton’s Laws of Linear Motion</vt:lpstr>
      <vt:lpstr>Objectives of Experiment 3</vt:lpstr>
      <vt:lpstr>Newton’s Laws of Linear Motion</vt:lpstr>
      <vt:lpstr>Newton’s Laws of Linear Motion</vt:lpstr>
      <vt:lpstr>Newton's First Law Experiment Setup</vt:lpstr>
      <vt:lpstr>Newton’s Laws of Linear Motion</vt:lpstr>
      <vt:lpstr>Newton’s second Law of Linear Motion</vt:lpstr>
      <vt:lpstr>Free-body Diagrams</vt:lpstr>
      <vt:lpstr>Newton’s Laws of Linear Motion</vt:lpstr>
      <vt:lpstr>Useful links:</vt:lpstr>
      <vt:lpstr>Objectives of Experiment 3</vt:lpstr>
    </vt:vector>
  </TitlesOfParts>
  <Company>louisiana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 111 Experiment 2</dc:title>
  <dc:creator>fareed aboul-ela</dc:creator>
  <cp:lastModifiedBy>Physics Lab 01</cp:lastModifiedBy>
  <cp:revision>153</cp:revision>
  <dcterms:created xsi:type="dcterms:W3CDTF">2014-10-10T16:30:34Z</dcterms:created>
  <dcterms:modified xsi:type="dcterms:W3CDTF">2019-09-15T06:25:47Z</dcterms:modified>
</cp:coreProperties>
</file>